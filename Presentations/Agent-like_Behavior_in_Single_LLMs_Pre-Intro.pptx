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8" r:id="rId3"/>
    <p:sldId id="264" r:id="rId4"/>
    <p:sldId id="265" r:id="rId5"/>
    <p:sldId id="266" r:id="rId6"/>
    <p:sldId id="267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66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9728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37160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64592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Agent-like Behavior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Single LLMs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single chatbot do real biomedical research? A live demo with synthetic patient data.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37160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8EEF4"/>
                </a:solidFill>
                <a:latin typeface="Calibri" pitchFamily="34" charset="0"/>
                <a:cs typeface="Calibri" pitchFamily="34" charset="-120"/>
              </a:rPr>
              <a:t>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in Biomedicine  •  Pre-Intro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Capabilities and Limitations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What a single LLM can and cannot do in a biomedical research context</a:t>
            </a:r>
          </a:p>
        </p:txBody>
      </p:sp>
      <p:sp>
        <p:nvSpPr>
          <p:cNvPr id="10" name="CapAccent"/>
          <p:cNvSpPr/>
          <p:nvPr/>
        </p:nvSpPr>
        <p:spPr>
          <a:xfrm>
            <a:off x="457200" y="1280160"/>
            <a:ext cx="5303520" cy="54864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CapCard"/>
          <p:cNvSpPr/>
          <p:nvPr/>
        </p:nvSpPr>
        <p:spPr>
          <a:xfrm>
            <a:off x="457200" y="1335024"/>
            <a:ext cx="5303520" cy="2194560"/>
          </a:xfrm>
          <a:prstGeom prst="rect">
            <a:avLst/>
          </a:prstGeom>
          <a:solidFill>
            <a:srgbClr val="F4F6F9"/>
          </a:solidFill>
          <a:ln w="6350">
            <a:solidFill>
              <a:srgbClr val="D5DBE3"/>
            </a:solidFill>
          </a:ln>
        </p:spPr>
        <p:txBody>
          <a:bodyPr wrap="square" lIns="228600" tIns="182880" rIns="228600" bIns="13716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Georgia"/>
                <a:ea typeface="Georgia"/>
                <a:cs typeface="Georgia"/>
              </a:rPr>
              <a:t>Capabilities</a:t>
            </a:r>
          </a:p>
          <a:p>
            <a:pPr marL="0" indent="0">
              <a:buNone/>
            </a:pPr>
            <a:endParaRPr lang="en-US" sz="600"/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/>
              </a:rPr>
              <a:t>Can analyze uploaded data and answer follow-up questions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/>
              </a:rPr>
              <a:t>Can generate code, run reasoning steps, and revise conclusions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/>
              </a:rPr>
              <a:t>Can detect simple statistical pitfalls, such as confounding</a:t>
            </a:r>
          </a:p>
        </p:txBody>
      </p:sp>
      <p:sp>
        <p:nvSpPr>
          <p:cNvPr id="12" name="LimAccent"/>
          <p:cNvSpPr/>
          <p:nvPr/>
        </p:nvSpPr>
        <p:spPr>
          <a:xfrm>
            <a:off x="5943600" y="1280160"/>
            <a:ext cx="5303520" cy="5486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LimCard"/>
          <p:cNvSpPr/>
          <p:nvPr/>
        </p:nvSpPr>
        <p:spPr>
          <a:xfrm>
            <a:off x="5943600" y="1335024"/>
            <a:ext cx="5303520" cy="2194560"/>
          </a:xfrm>
          <a:prstGeom prst="rect">
            <a:avLst/>
          </a:prstGeom>
          <a:solidFill>
            <a:srgbClr val="F4F6F9"/>
          </a:solidFill>
          <a:ln w="6350">
            <a:solidFill>
              <a:srgbClr val="D5DBE3"/>
            </a:solidFill>
          </a:ln>
        </p:spPr>
        <p:txBody>
          <a:bodyPr wrap="square" lIns="228600" tIns="182880" rIns="228600" bIns="13716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Georgia"/>
                <a:ea typeface="Georgia"/>
                <a:cs typeface="Georgia"/>
              </a:rPr>
              <a:t>Limitations</a:t>
            </a:r>
          </a:p>
          <a:p>
            <a:pPr marL="0" indent="0">
              <a:buNone/>
            </a:pPr>
            <a:endParaRPr lang="en-US" sz="600"/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/>
              </a:rPr>
              <a:t>Limited context over longer workflows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/>
              </a:rPr>
              <a:t>Cannot reliably handle large datasets or direct hardware access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/>
              </a:rPr>
              <a:t>Weak persistent memory and no true agent-to-agent coordination</a:t>
            </a:r>
          </a:p>
        </p:txBody>
      </p:sp>
      <p:sp>
        <p:nvSpPr>
          <p:cNvPr id="20" name="PromptLabel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228600" tIns="0" rIns="228600" bIns="0" rtlCol="0" anchor="ctr"/>
          <a:lstStyle/>
          <a:p>
            <a:pPr marL="0" indent="0">
              <a:buNone/>
            </a:pPr>
            <a:r>
              <a:rPr lang="en-US" sz="1100" b="1" spc="150" dirty="0">
                <a:solidFill>
                  <a:srgbClr val="F2A65A"/>
                </a:solidFill>
                <a:latin typeface="Calibri"/>
              </a:rPr>
              <a:t>SYSTEM PROMPT USED FOR THE DEMO</a:t>
            </a:r>
          </a:p>
        </p:txBody>
      </p:sp>
      <p:pic>
        <p:nvPicPr>
          <p:cNvPr id="21" name="Prompt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7740502" cy="2011680"/>
          </a:xfrm>
          <a:prstGeom prst="rect">
            <a:avLst/>
          </a:prstGeom>
          <a:ln w="6350">
            <a:solidFill>
              <a:srgbClr val="D5DBE3"/>
            </a:solidFill>
          </a:ln>
        </p:spPr>
      </p:pic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Agentic Systems in Biomedicine</a:t>
            </a:r>
          </a:p>
        </p:txBody>
      </p:sp>
      <p:sp>
        <p:nvSpPr>
          <p:cNvPr id="100" name="FooterR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The Dataset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1,000 synthetic patient records with 7 variables and a built-in confounder</a:t>
            </a:r>
          </a:p>
        </p:txBody>
      </p:sp>
      <p:sp>
        <p:nvSpPr>
          <p:cNvPr id="10" name="DatasetCard"/>
          <p:cNvSpPr/>
          <p:nvPr/>
        </p:nvSpPr>
        <p:spPr>
          <a:xfrm>
            <a:off x="457200" y="1280160"/>
            <a:ext cx="5486400" cy="4937760"/>
          </a:xfrm>
          <a:prstGeom prst="rect">
            <a:avLst/>
          </a:prstGeom>
          <a:solidFill>
            <a:srgbClr val="F4F6F9"/>
          </a:solidFill>
          <a:ln w="6350">
            <a:solidFill>
              <a:srgbClr val="D5DBE3"/>
            </a:solidFill>
          </a:ln>
        </p:spPr>
        <p:txBody>
          <a:bodyPr wrap="square" lIns="228600" tIns="182880" rIns="228600" bIns="137160" rtlCol="0" anchor="t"/>
          <a:lstStyle/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/>
              </a:rPr>
              <a:t>Variables include </a:t>
            </a:r>
            <a:r>
              <a:rPr lang="en-US" sz="1300" b="1" dirty="0">
                <a:solidFill>
                  <a:srgbClr val="0B1F3A"/>
                </a:solidFill>
                <a:latin typeface="Calibri"/>
              </a:rPr>
              <a:t>sex, age, episodes, infarction, antihypertensives, naive CD4</a:t>
            </a:r>
          </a:p>
          <a:p>
            <a:pPr marL="0" indent="0">
              <a:buNone/>
            </a:pPr>
            <a:endParaRPr lang="en-US" sz="600"/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/>
              </a:rPr>
              <a:t>Roughly balanced by sex, no missing values</a:t>
            </a:r>
          </a:p>
          <a:p>
            <a:pPr marL="0" indent="0">
              <a:buNone/>
            </a:pPr>
            <a:endParaRPr lang="en-US" sz="600"/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/>
              </a:rPr>
              <a:t>Built-in patterns: </a:t>
            </a:r>
            <a:r>
              <a:rPr lang="en-US" sz="1300" b="1" dirty="0">
                <a:solidFill>
                  <a:srgbClr val="0B1F3A"/>
                </a:solidFill>
                <a:latin typeface="Calibri"/>
              </a:rPr>
              <a:t>naive CD4 decreases with age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, antihypertensive use increases with age, infarction more frequent in men</a:t>
            </a:r>
          </a:p>
          <a:p>
            <a:pPr marL="0" indent="0">
              <a:buNone/>
            </a:pPr>
            <a:endParaRPr lang="en-US" sz="600"/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/>
              </a:rPr>
              <a:t>Main question: </a:t>
            </a:r>
            <a:r>
              <a:rPr lang="en-US" sz="1300" b="1" dirty="0">
                <a:solidFill>
                  <a:srgbClr val="0B1F3A"/>
                </a:solidFill>
                <a:latin typeface="Calibri"/>
              </a:rPr>
              <a:t>Do antihypertensives affect naive CD4 T-cell levels?</a:t>
            </a:r>
          </a:p>
          <a:p>
            <a:pPr marL="0" indent="0">
              <a:buNone/>
            </a:pPr>
            <a:endParaRPr lang="en-US" sz="600"/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/>
              </a:rPr>
              <a:t>A naive comparison suggests an effect, but </a:t>
            </a:r>
            <a:r>
              <a:rPr lang="en-US" sz="1300" b="1" dirty="0">
                <a:solidFill>
                  <a:srgbClr val="B85042"/>
                </a:solidFill>
                <a:latin typeface="Calibri"/>
              </a:rPr>
              <a:t>age is the key confounder</a:t>
            </a:r>
          </a:p>
        </p:txBody>
      </p:sp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Agentic Systems in Biomedicine</a:t>
            </a:r>
          </a:p>
        </p:txBody>
      </p:sp>
      <p:sp>
        <p:nvSpPr>
          <p:cNvPr id="100" name="FooterR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3 / 6</a:t>
            </a:r>
          </a:p>
        </p:txBody>
      </p:sp>
      <p:pic>
        <p:nvPicPr>
          <p:cNvPr id="5" name="Obrázek 4" descr="Obsah obrázku text, snímek obrazovky, Písmo, dokument&#10;&#10;Obsah generovaný pomocí AI může být nesprávný.">
            <a:extLst>
              <a:ext uri="{FF2B5EF4-FFF2-40B4-BE49-F238E27FC236}">
                <a16:creationId xmlns:a16="http://schemas.microsoft.com/office/drawing/2014/main" id="{060167BC-E53C-F044-C5BF-4BDC95C78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460" y="1280160"/>
            <a:ext cx="6136540" cy="33736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Data Upload + Summary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The LLM inspects the uploaded table, identifies variable types, and reports a clean summary</a:t>
            </a:r>
          </a:p>
        </p:txBody>
      </p:sp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Agentic Systems in Biomedicine</a:t>
            </a:r>
          </a:p>
        </p:txBody>
      </p:sp>
      <p:sp>
        <p:nvSpPr>
          <p:cNvPr id="100" name="FooterR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4 / 6</a:t>
            </a:r>
          </a:p>
        </p:txBody>
      </p:sp>
      <p:pic>
        <p:nvPicPr>
          <p:cNvPr id="6" name="Obrázek 5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C5695329-8584-5337-DF95-58A152CD4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061749"/>
            <a:ext cx="8677585" cy="5285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Research Question + Initial Analysis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User asks about antihypertensives and CD4 levels — the model runs crude + adjusted analyses</a:t>
            </a:r>
          </a:p>
        </p:txBody>
      </p:sp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Agentic Systems in Biomedicine</a:t>
            </a:r>
          </a:p>
        </p:txBody>
      </p:sp>
      <p:sp>
        <p:nvSpPr>
          <p:cNvPr id="100" name="FooterR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5 / 6</a:t>
            </a:r>
          </a:p>
        </p:txBody>
      </p:sp>
      <p:pic>
        <p:nvPicPr>
          <p:cNvPr id="8" name="Obrázek 7" descr="Obsah obrázku text, snímek obrazovky, Písmo, dokument&#10;&#10;Obsah generovaný pomocí AI může být nesprávný.">
            <a:extLst>
              <a:ext uri="{FF2B5EF4-FFF2-40B4-BE49-F238E27FC236}">
                <a16:creationId xmlns:a16="http://schemas.microsoft.com/office/drawing/2014/main" id="{EC20DCDF-A932-C840-28D5-761FC53B2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330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Detailed Results + Interpretation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After adjustment for age and sex, the apparent treatment effect vanishes — age is the confounder</a:t>
            </a:r>
          </a:p>
        </p:txBody>
      </p:sp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Agentic Systems in Biomedicine</a:t>
            </a:r>
          </a:p>
        </p:txBody>
      </p:sp>
      <p:sp>
        <p:nvSpPr>
          <p:cNvPr id="100" name="FooterR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6 / 6</a:t>
            </a:r>
          </a:p>
        </p:txBody>
      </p:sp>
      <p:pic>
        <p:nvPicPr>
          <p:cNvPr id="8" name="Obrázek 7" descr="Obsah obrázku text, dokument, snímek obrazovky, dopis&#10;&#10;Obsah generovaný pomocí AI může být nesprávný.">
            <a:extLst>
              <a:ext uri="{FF2B5EF4-FFF2-40B4-BE49-F238E27FC236}">
                <a16:creationId xmlns:a16="http://schemas.microsoft.com/office/drawing/2014/main" id="{50A577CE-1A03-C0A4-97F9-8A0E87E7B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391650" cy="51991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279</Words>
  <Application>Microsoft Macintosh PowerPoint</Application>
  <PresentationFormat>Širokoúhlá obrazovka</PresentationFormat>
  <Paragraphs>46</Paragraphs>
  <Slides>6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PptxGenJS Presentation</dc:subject>
  <dc:creator>Your name</dc:creator>
  <cp:lastModifiedBy>Preisler Tomáš</cp:lastModifiedBy>
  <cp:revision>5</cp:revision>
  <dcterms:created xsi:type="dcterms:W3CDTF">2026-05-10T19:40:04Z</dcterms:created>
  <dcterms:modified xsi:type="dcterms:W3CDTF">2026-05-12T15:15:35Z</dcterms:modified>
</cp:coreProperties>
</file>