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8" r:id="rId4"/>
    <p:sldId id="258" r:id="rId5"/>
    <p:sldId id="264" r:id="rId6"/>
    <p:sldId id="265" r:id="rId7"/>
    <p:sldId id="269" r:id="rId8"/>
    <p:sldId id="267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4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66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3223F-EAFA-664E-FF29-2AFA0DD1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AEBFA-413C-AC9E-17D9-D669CA9DF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DE0E4-D57E-C9CE-0A44-8DA8C64C2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B57BA-93DD-FBA4-BE44-A9B4A462E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40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64592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Biomedical Research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Model Context Protocol connects AI agents to HPC clusters, pipelines, and lab tools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37160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in Biomedicine  •  MCP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the USB-C of AI integrations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80060" y="15544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480060" y="1554480"/>
            <a:ext cx="2697480" cy="731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80060" y="1828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25780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8660" y="257414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AI can call: submit_job, check_status, fetch_results. Typed inputs, structured outputs.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14700" y="1554480"/>
            <a:ext cx="2697480" cy="731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3314700" y="1828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51860" y="1833053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3300" y="257733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data the agent can access: pipeline configs, reference genomes, sample sheets. Always current.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49340" y="15544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149340" y="1554480"/>
            <a:ext cx="2697480" cy="731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149340" y="1828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1829863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57414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client and server talk: stdio for local, SSE/HTTP for remote. Works over SSH tunnels to HPC clusters.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83980" y="15544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8983980" y="1554480"/>
            <a:ext cx="2697480" cy="731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8983980" y="1828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3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029700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257414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protocol underneath. Bidirectional, typed, transport-agnostic. Strict schema — no guessing.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→  </a:t>
            </a:r>
            <a:r>
              <a:rPr lang="en-US" sz="1300" dirty="0">
                <a:solidFill>
                  <a:srgbClr val="FFFFFF"/>
                </a:solidFill>
              </a:rPr>
              <a:t>MCP is a standard way for AI agents to discover and use external tools — without custom code per integration.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MCP Servers for Biomedical Research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F7244-90C6-AEB3-D3BE-3AB106ED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196D98-C4FE-B4F7-0A7E-07101E40451B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MCP?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B68C46-45E8-CEF9-E980-EC410EB0D015}"/>
              </a:ext>
            </a:extLst>
          </p:cNvPr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cs-CZ" sz="1400" i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MCP </a:t>
            </a:r>
            <a:r>
              <a:rPr lang="cs-CZ" sz="1400" i="1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provides</a:t>
            </a:r>
            <a:r>
              <a:rPr lang="cs-CZ" sz="1400" i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 a </a:t>
            </a:r>
            <a:r>
              <a:rPr lang="cs-CZ" sz="1400" i="1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configurable</a:t>
            </a:r>
            <a:r>
              <a:rPr lang="cs-CZ" sz="1400" i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 and </a:t>
            </a:r>
            <a:r>
              <a:rPr lang="cs-CZ" sz="1400" b="1" i="1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traceable</a:t>
            </a:r>
            <a:r>
              <a:rPr lang="cs-CZ" sz="1400" i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 interface </a:t>
            </a:r>
            <a:r>
              <a:rPr lang="cs-CZ" sz="1400" i="1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between</a:t>
            </a:r>
            <a:r>
              <a:rPr lang="cs-CZ" sz="1400" i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 software </a:t>
            </a:r>
            <a:r>
              <a:rPr lang="cs-CZ" sz="1400" i="1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tools</a:t>
            </a:r>
            <a:r>
              <a:rPr lang="cs-CZ" sz="1400" i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 and </a:t>
            </a:r>
            <a:r>
              <a:rPr lang="cs-CZ" sz="1400" i="1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an</a:t>
            </a:r>
            <a:r>
              <a:rPr lang="cs-CZ" sz="1400" i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 AI agent</a:t>
            </a:r>
            <a:endParaRPr lang="en-US" sz="1400" i="1" dirty="0">
              <a:solidFill>
                <a:srgbClr val="1C7293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A4BB7F-D627-0B97-EE3B-8B45F5474E65}"/>
              </a:ext>
            </a:extLst>
          </p:cNvPr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EF35414-39A1-0785-DAFF-7126B30F162B}"/>
              </a:ext>
            </a:extLst>
          </p:cNvPr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C2A481E-9593-E1D3-8B5C-6D870E6B9271}"/>
              </a:ext>
            </a:extLst>
          </p:cNvPr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MCP Servers for Biomedical Research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CF97207-59A4-F259-AA1A-CAAE29EC2456}"/>
              </a:ext>
            </a:extLst>
          </p:cNvPr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pic>
        <p:nvPicPr>
          <p:cNvPr id="1026" name="Picture 2" descr="Replit AI went rogue, deleted a company's entire database, then hid it and  lied about it : r/ChatGPT">
            <a:extLst>
              <a:ext uri="{FF2B5EF4-FFF2-40B4-BE49-F238E27FC236}">
                <a16:creationId xmlns:a16="http://schemas.microsoft.com/office/drawing/2014/main" id="{1B1ECAD4-B9A1-712B-0E12-2D71E9431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35" y="1883086"/>
            <a:ext cx="5903965" cy="423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2DECCEF-BE3C-7955-CA16-5584EA4C2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71879">
            <a:off x="4939195" y="2113278"/>
            <a:ext cx="4683341" cy="2018621"/>
          </a:xfrm>
          <a:prstGeom prst="rect">
            <a:avLst/>
          </a:prstGeom>
        </p:spPr>
      </p:pic>
      <p:pic>
        <p:nvPicPr>
          <p:cNvPr id="1028" name="Picture 4" descr="Claude AI just wiped 2.5 years of production data. A developer gave Claude  Code full access to help manage his cloud infrastructure using Terraform on  Amazon Web Services (AWS). The goal was">
            <a:extLst>
              <a:ext uri="{FF2B5EF4-FFF2-40B4-BE49-F238E27FC236}">
                <a16:creationId xmlns:a16="http://schemas.microsoft.com/office/drawing/2014/main" id="{A8DCA21A-83A8-325D-6926-AEAD3AD56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381" y="824345"/>
            <a:ext cx="3132859" cy="391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Obrázek 29">
            <a:extLst>
              <a:ext uri="{FF2B5EF4-FFF2-40B4-BE49-F238E27FC236}">
                <a16:creationId xmlns:a16="http://schemas.microsoft.com/office/drawing/2014/main" id="{30FCA4AD-836B-56DC-A8D9-A8C951874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007" y="5010735"/>
            <a:ext cx="4237233" cy="11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7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vs. CLI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for an AI agent to run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8EEF4"/>
          </a:solidFill>
          <a:ln w="2540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44536"/>
                </a:solidFill>
              </a:rPr>
              <a:t>✗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/ shell commands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The agent writes shell commands and executes them via subprocess. It must parse stdout/stderr as unstructured text, handle errors by guessing, and know the exact CLI syntax for every tool. Breaks whenever the tool updates or the agent hallucinates a flag.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8EEF4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217920" y="1691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8B57"/>
                </a:solidFill>
              </a:rPr>
              <a:t>✓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The agent calls a typed tool through a JSON-RPC interface. Inputs are validated, outputs are structured, errors are explicit. The server handles auth, sandboxing, and resource management behind the scenes.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Key idea:  </a:t>
            </a:r>
            <a:r>
              <a:rPr lang="en-US" sz="1300" dirty="0">
                <a:solidFill>
                  <a:srgbClr val="FFFFFF"/>
                </a:solidFill>
              </a:rPr>
              <a:t>CLI is a quick hack; MCP is a production interface. For anything that runs repeatedly or handles real data, use MCP.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MCP Servers for Biomedical Research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ncoAnalyser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nf-core/</a:t>
            </a:r>
            <a:r>
              <a:rPr lang="en-US" sz="26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oncoanalyser</a:t>
            </a:r>
            <a:endParaRPr lang="en-US" sz="1400" dirty="0">
              <a:solidFill>
                <a:srgbClr val="F2A65A"/>
              </a:solidFill>
              <a:latin typeface="Calibri"/>
            </a:endParaRPr>
          </a:p>
        </p:txBody>
      </p:sp>
      <p:sp>
        <p:nvSpPr>
          <p:cNvPr id="10" name="ToolList"/>
          <p:cNvSpPr/>
          <p:nvPr/>
        </p:nvSpPr>
        <p:spPr>
          <a:xfrm>
            <a:off x="6583680" y="822960"/>
            <a:ext cx="5303520" cy="5486400"/>
          </a:xfrm>
          <a:prstGeom prst="rect">
            <a:avLst/>
          </a:prstGeom>
          <a:noFill/>
          <a:ln/>
        </p:spPr>
        <p:txBody>
          <a:bodyPr wrap="square" lIns="182880" tIns="91440" rIns="9144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Read alignment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BWA-MEM2 (DNA), STAR (RNA)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Post-processing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REDUX (DNA), MarkDuplicates (RNA)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SNV/MNV/INDEL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SAGE, PAVE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SV calling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ESVEE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CNV calling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AMBER, COBALT, PURPLE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SV interpretation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LINX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RNA transcripts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ISOFOX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Oncoviral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VIRUSbreakend, VirusInterpreter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Telomeres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TEAL*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Immune analysis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LILAC, CIDER, NEO*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Mut. signatures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SIGS*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HRD prediction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CHORD*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Tissue of origin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CUPPA*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Pharmacogenomics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PEACH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/>
              </a:rPr>
              <a:t>Report</a:t>
            </a:r>
            <a:r>
              <a:rPr lang="en-US" sz="1400" dirty="0">
                <a:solidFill>
                  <a:srgbClr val="E8EEF4"/>
                </a:solidFill>
                <a:latin typeface="Calibri"/>
              </a:rPr>
              <a:t>   ORANGE, linxreport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/>
              </a:rPr>
              <a:t>* not available in targeted/panel mode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/>
              </a:rPr>
              <a:t>nf-co.re/oncoanalyser  |  WiGiTS toolkit (Hartwig Medical Foundation)</a:t>
            </a:r>
            <a:endParaRPr lang="en-US" sz="900" i="1" dirty="0">
              <a:solidFill>
                <a:srgbClr val="5C6B7A"/>
              </a:solidFill>
              <a:latin typeface="Calibri"/>
            </a:endParaRP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MCP Servers for Biomedical Research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C479B34-9566-81E6-31B3-720FA6085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94" y="1112099"/>
            <a:ext cx="5675104" cy="4633801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D64827C3-E777-45ED-A618-4484584E6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7039"/>
            <a:ext cx="5532898" cy="46338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CP Chime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MCP Chimera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Our MCP server for the university HPC cluster </a:t>
            </a:r>
          </a:p>
        </p:txBody>
      </p:sp>
      <p:sp>
        <p:nvSpPr>
          <p:cNvPr id="4" name="Accent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AgentBox"/>
          <p:cNvSpPr/>
          <p:nvPr/>
        </p:nvSpPr>
        <p:spPr>
          <a:xfrm>
            <a:off x="457200" y="164592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0">
            <a:noFill/>
          </a:ln>
        </p:spPr>
        <p:txBody>
          <a:bodyPr wrap="square" lIns="182880" tIns="91440" rIns="182880" bIns="9144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 Agent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/>
              </a:rPr>
              <a:t>Claude, GPT, or any MCP client</a:t>
            </a:r>
          </a:p>
        </p:txBody>
      </p:sp>
      <p:sp>
        <p:nvSpPr>
          <p:cNvPr id="11" name="Arr1"/>
          <p:cNvSpPr/>
          <p:nvPr/>
        </p:nvSpPr>
        <p:spPr>
          <a:xfrm>
            <a:off x="3291840" y="2103120"/>
            <a:ext cx="914400" cy="274320"/>
          </a:xfrm>
          <a:prstGeom prst="rightArrow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Arr1Lbl"/>
          <p:cNvSpPr/>
          <p:nvPr/>
        </p:nvSpPr>
        <p:spPr>
          <a:xfrm>
            <a:off x="320040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/>
              </a:rPr>
              <a:t>JSON-RPC</a:t>
            </a:r>
          </a:p>
        </p:txBody>
      </p:sp>
      <p:sp>
        <p:nvSpPr>
          <p:cNvPr id="13" name="ChimeraBox"/>
          <p:cNvSpPr/>
          <p:nvPr/>
        </p:nvSpPr>
        <p:spPr>
          <a:xfrm>
            <a:off x="4297680" y="164592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0">
            <a:noFill/>
          </a:ln>
        </p:spPr>
        <p:txBody>
          <a:bodyPr wrap="square" lIns="182880" tIns="91440" rIns="182880" bIns="9144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MCP Chimera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/>
              </a:rPr>
              <a:t>our MCP server</a:t>
            </a:r>
          </a:p>
        </p:txBody>
      </p:sp>
      <p:sp>
        <p:nvSpPr>
          <p:cNvPr id="14" name="Arr2"/>
          <p:cNvSpPr/>
          <p:nvPr/>
        </p:nvSpPr>
        <p:spPr>
          <a:xfrm>
            <a:off x="7132320" y="2103120"/>
            <a:ext cx="914400" cy="274320"/>
          </a:xfrm>
          <a:prstGeom prst="rightArrow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Arr2Lbl"/>
          <p:cNvSpPr/>
          <p:nvPr/>
        </p:nvSpPr>
        <p:spPr>
          <a:xfrm>
            <a:off x="704088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/>
              </a:rPr>
              <a:t>SSH + Slurm</a:t>
            </a:r>
          </a:p>
        </p:txBody>
      </p:sp>
      <p:sp>
        <p:nvSpPr>
          <p:cNvPr id="16" name="HPCBox"/>
          <p:cNvSpPr/>
          <p:nvPr/>
        </p:nvSpPr>
        <p:spPr>
          <a:xfrm>
            <a:off x="8138160" y="164592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 w="0">
            <a:noFill/>
          </a:ln>
        </p:spPr>
        <p:txBody>
          <a:bodyPr wrap="square" lIns="182880" tIns="91440" rIns="182880" bIns="9144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HPC Cluster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/>
              </a:rPr>
              <a:t>Nextflow + OncoAnalyser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MCP Servers for Biomedical Research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4 / 6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72FB11D-C6BA-8EB5-7DC1-28EF62587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135" y="3891742"/>
            <a:ext cx="4838118" cy="2211878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667F6171-641F-03C9-EAB1-8A25DCC59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6" y="3042340"/>
            <a:ext cx="6943134" cy="2876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r>
              <a:rPr sz="3000" b="1" dirty="0">
                <a:solidFill>
                  <a:srgbClr val="0B1F3A"/>
                </a:solidFill>
                <a:latin typeface="Georgia"/>
              </a:rPr>
              <a:t>Sensitive </a:t>
            </a:r>
            <a:r>
              <a:rPr lang="cs-CZ" sz="3000" b="1" dirty="0">
                <a:solidFill>
                  <a:srgbClr val="0B1F3A"/>
                </a:solidFill>
                <a:latin typeface="Georgia"/>
              </a:rPr>
              <a:t>MCP </a:t>
            </a:r>
            <a:r>
              <a:rPr sz="3000" b="1" dirty="0">
                <a:solidFill>
                  <a:srgbClr val="0B1F3A"/>
                </a:solidFill>
                <a:latin typeface="Georgia"/>
              </a:rPr>
              <a:t>Chimera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The lightweight counterpart to MCP Chimera — a bounded slice of compute, nothing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6576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40680" cy="91440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sz="1700" b="1" dirty="0">
                <a:solidFill>
                  <a:srgbClr val="FFFFFF"/>
                </a:solidFill>
                <a:latin typeface="Georgia"/>
              </a:rPr>
              <a:t>MCP Chimera</a:t>
            </a:r>
            <a:r>
              <a:rPr sz="1200" b="0" dirty="0">
                <a:solidFill>
                  <a:srgbClr val="E8EEF4"/>
                </a:solidFill>
                <a:latin typeface="Calibri"/>
              </a:rPr>
              <a:t>   the full server</a:t>
            </a: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E8EEF4"/>
                </a:solidFill>
                <a:latin typeface="Calibri"/>
              </a:rPr>
              <a:t>Many tools: submit &amp; monitor jobs, fetch results, </a:t>
            </a:r>
            <a:r>
              <a:rPr lang="cs-CZ" sz="1150" dirty="0" err="1">
                <a:solidFill>
                  <a:srgbClr val="E8EEF4"/>
                </a:solidFill>
                <a:latin typeface="Calibri"/>
              </a:rPr>
              <a:t>install</a:t>
            </a:r>
            <a:r>
              <a:rPr lang="cs-CZ" sz="1150" dirty="0">
                <a:solidFill>
                  <a:srgbClr val="E8EEF4"/>
                </a:solidFill>
                <a:latin typeface="Calibri"/>
              </a:rPr>
              <a:t> </a:t>
            </a:r>
            <a:r>
              <a:rPr lang="cs-CZ" sz="1150" dirty="0" err="1">
                <a:solidFill>
                  <a:srgbClr val="E8EEF4"/>
                </a:solidFill>
                <a:latin typeface="Calibri"/>
              </a:rPr>
              <a:t>tools</a:t>
            </a:r>
            <a:r>
              <a:rPr lang="cs-CZ" sz="1150" dirty="0">
                <a:solidFill>
                  <a:srgbClr val="E8EEF4"/>
                </a:solidFill>
                <a:latin typeface="Calibri"/>
              </a:rPr>
              <a:t>…</a:t>
            </a:r>
            <a:endParaRPr sz="1150" b="0" dirty="0">
              <a:solidFill>
                <a:srgbClr val="E8EEF4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79154" y="1463040"/>
            <a:ext cx="5025166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FFFFFF"/>
                </a:solidFill>
                <a:latin typeface="Georgia"/>
              </a:rPr>
              <a:t>Sensitive Chimera MCP</a:t>
            </a:r>
            <a:r>
              <a:rPr sz="1100" b="0" dirty="0">
                <a:solidFill>
                  <a:srgbClr val="F2A65A"/>
                </a:solidFill>
                <a:latin typeface="Calibri"/>
              </a:rPr>
              <a:t>   this one</a:t>
            </a: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E8EEF4"/>
                </a:solidFill>
                <a:latin typeface="Calibri"/>
              </a:rPr>
              <a:t>Just a measured amount of compute power, sandboxed in a container.</a:t>
            </a:r>
          </a:p>
        </p:txBody>
      </p:sp>
      <p:sp>
        <p:nvSpPr>
          <p:cNvPr id="7" name="Chevron 6"/>
          <p:cNvSpPr/>
          <p:nvPr/>
        </p:nvSpPr>
        <p:spPr>
          <a:xfrm>
            <a:off x="6057900" y="1783080"/>
            <a:ext cx="461234" cy="274320"/>
          </a:xfrm>
          <a:prstGeom prst="chevron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5486400" cy="35661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5486400" cy="548640"/>
          </a:xfrm>
          <a:prstGeom prst="roundRect">
            <a:avLst/>
          </a:prstGeom>
          <a:solidFill>
            <a:srgbClr val="B5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898648"/>
            <a:ext cx="5486400" cy="256032"/>
          </a:xfrm>
          <a:prstGeom prst="rect">
            <a:avLst/>
          </a:prstGeom>
          <a:solidFill>
            <a:srgbClr val="B5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486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09728" bIns="36576" rtlCol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Georgia"/>
              </a:rPr>
              <a:t>Restrictions — by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73552"/>
            <a:ext cx="5394960" cy="2788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36576" rIns="164592" bIns="36576" rtlCol="0" anchor="t"/>
          <a:lstStyle/>
          <a:p>
            <a:pPr algn="l">
              <a:spcAft>
                <a:spcPts val="700"/>
              </a:spcAft>
            </a:pPr>
            <a:r>
              <a:rPr sz="1150" b="1" dirty="0">
                <a:solidFill>
                  <a:srgbClr val="B54B3A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0B1F3A"/>
                </a:solidFill>
                <a:latin typeface="Calibri"/>
              </a:rPr>
              <a:t>No job control: 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it can't submit, schedule, or cancel SLURM jobs. A human allocates the box up front with </a:t>
            </a:r>
            <a:r>
              <a:rPr sz="1150" b="0" dirty="0" err="1">
                <a:solidFill>
                  <a:srgbClr val="2A3340"/>
                </a:solidFill>
                <a:latin typeface="Calibri"/>
              </a:rPr>
              <a:t>submit.sh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; the agent only attaches into it.</a:t>
            </a:r>
          </a:p>
          <a:p>
            <a:pPr algn="l">
              <a:spcAft>
                <a:spcPts val="700"/>
              </a:spcAft>
            </a:pPr>
            <a:r>
              <a:rPr sz="1150" b="1" dirty="0">
                <a:solidFill>
                  <a:srgbClr val="B54B3A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0B1F3A"/>
                </a:solidFill>
                <a:latin typeface="Calibri"/>
              </a:rPr>
              <a:t>Fixed compute envelope: 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it works within the GPU / CPU / RAM / </a:t>
            </a:r>
            <a:r>
              <a:rPr sz="1150" b="0" dirty="0" err="1">
                <a:solidFill>
                  <a:srgbClr val="2A3340"/>
                </a:solidFill>
                <a:latin typeface="Calibri"/>
              </a:rPr>
              <a:t>walltime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 the allocation reserved — it cannot ask for more.</a:t>
            </a:r>
          </a:p>
          <a:p>
            <a:pPr algn="l">
              <a:spcAft>
                <a:spcPts val="700"/>
              </a:spcAft>
            </a:pPr>
            <a:r>
              <a:rPr sz="1150" b="1" dirty="0">
                <a:solidFill>
                  <a:srgbClr val="B54B3A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0B1F3A"/>
                </a:solidFill>
                <a:latin typeface="Calibri"/>
              </a:rPr>
              <a:t>Four primitives only: 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bash, </a:t>
            </a:r>
            <a:r>
              <a:rPr sz="1150" b="0" dirty="0" err="1">
                <a:solidFill>
                  <a:srgbClr val="2A3340"/>
                </a:solidFill>
                <a:latin typeface="Calibri"/>
              </a:rPr>
              <a:t>read_file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2A3340"/>
                </a:solidFill>
                <a:latin typeface="Calibri"/>
              </a:rPr>
              <a:t>write_file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2A3340"/>
                </a:solidFill>
                <a:latin typeface="Calibri"/>
              </a:rPr>
              <a:t>list_dir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. No pipeline orchestration, status, or results tooling.</a:t>
            </a:r>
          </a:p>
          <a:p>
            <a:pPr algn="l">
              <a:spcAft>
                <a:spcPts val="700"/>
              </a:spcAft>
            </a:pPr>
            <a:r>
              <a:rPr sz="1150" b="1" dirty="0">
                <a:solidFill>
                  <a:srgbClr val="B54B3A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0B1F3A"/>
                </a:solidFill>
                <a:latin typeface="Calibri"/>
              </a:rPr>
              <a:t>Filesystem-scoped: 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sees only /workspace — the folder you mount. Everything else is invisible and ephemeral.</a:t>
            </a:r>
          </a:p>
          <a:p>
            <a:pPr algn="l">
              <a:spcAft>
                <a:spcPts val="700"/>
              </a:spcAft>
            </a:pPr>
            <a:r>
              <a:rPr sz="1150" b="1" dirty="0">
                <a:solidFill>
                  <a:srgbClr val="B54B3A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0B1F3A"/>
                </a:solidFill>
                <a:latin typeface="Calibri"/>
              </a:rPr>
              <a:t>Time-boxed: 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the sandbox disappears at </a:t>
            </a:r>
            <a:r>
              <a:rPr sz="1150" b="0" dirty="0" err="1">
                <a:solidFill>
                  <a:srgbClr val="2A3340"/>
                </a:solidFill>
                <a:latin typeface="Calibri"/>
              </a:rPr>
              <a:t>walltime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 or </a:t>
            </a:r>
            <a:r>
              <a:rPr sz="1150" b="0" dirty="0" err="1">
                <a:solidFill>
                  <a:srgbClr val="2A3340"/>
                </a:solidFill>
                <a:latin typeface="Calibri"/>
              </a:rPr>
              <a:t>scancel</a:t>
            </a:r>
            <a:r>
              <a:rPr sz="1150" b="0" dirty="0">
                <a:solidFill>
                  <a:srgbClr val="2A3340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606040"/>
            <a:ext cx="5486400" cy="35661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45352" y="2606040"/>
            <a:ext cx="5486400" cy="54864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45352" y="2898648"/>
            <a:ext cx="5486400" cy="2560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45352" y="2606040"/>
            <a:ext cx="5486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09728" bIns="36576" rtlCol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Georgia"/>
              </a:rPr>
              <a:t>What it gives the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3273552"/>
            <a:ext cx="5394960" cy="2788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36576" rIns="164592" bIns="36576" rtlCol="0" anchor="t"/>
          <a:lstStyle/>
          <a:p>
            <a:pPr algn="l">
              <a:spcAft>
                <a:spcPts val="700"/>
              </a:spcAft>
            </a:pPr>
            <a:r>
              <a:rPr sz="1150" b="1">
                <a:solidFill>
                  <a:srgbClr val="2E7D5B"/>
                </a:solidFill>
                <a:latin typeface="Calibri"/>
              </a:rPr>
              <a:t>▸  </a:t>
            </a:r>
            <a:r>
              <a:rPr sz="1150" b="1">
                <a:solidFill>
                  <a:srgbClr val="0B1F3A"/>
                </a:solidFill>
                <a:latin typeface="Calibri"/>
              </a:rPr>
              <a:t>Real compute: </a:t>
            </a:r>
            <a:r>
              <a:rPr sz="1150" b="0">
                <a:solidFill>
                  <a:srgbClr val="2A3340"/>
                </a:solidFill>
                <a:latin typeface="Calibri"/>
              </a:rPr>
              <a:t>an NVIDIA GPU (CUDA 12.4, --nv), multi-core CPU, and the RAM the job reserved.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2E7D5B"/>
                </a:solidFill>
                <a:latin typeface="Calibri"/>
              </a:rPr>
              <a:t>▸  </a:t>
            </a:r>
            <a:r>
              <a:rPr sz="1150" b="1">
                <a:solidFill>
                  <a:srgbClr val="0B1F3A"/>
                </a:solidFill>
                <a:latin typeface="Calibri"/>
              </a:rPr>
              <a:t>Full toolchain: </a:t>
            </a:r>
            <a:r>
              <a:rPr sz="1150" b="0">
                <a:solidFill>
                  <a:srgbClr val="2A3340"/>
                </a:solidFill>
                <a:latin typeface="Calibri"/>
              </a:rPr>
              <a:t>conda / mamba, Python 3.12, R, git, build-essential.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2E7D5B"/>
                </a:solidFill>
                <a:latin typeface="Calibri"/>
              </a:rPr>
              <a:t>▸  </a:t>
            </a:r>
            <a:r>
              <a:rPr sz="1150" b="1">
                <a:solidFill>
                  <a:srgbClr val="0B1F3A"/>
                </a:solidFill>
                <a:latin typeface="Calibri"/>
              </a:rPr>
              <a:t>A persistent shell: </a:t>
            </a:r>
            <a:r>
              <a:rPr sz="1150" b="0">
                <a:solidFill>
                  <a:srgbClr val="2A3340"/>
                </a:solidFill>
                <a:latin typeface="Calibri"/>
              </a:rPr>
              <a:t>background jobs and installed packages survive opencode reconnects until the job ends.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2E7D5B"/>
                </a:solidFill>
                <a:latin typeface="Calibri"/>
              </a:rPr>
              <a:t>▸  </a:t>
            </a:r>
            <a:r>
              <a:rPr sz="1150" b="1">
                <a:solidFill>
                  <a:srgbClr val="0B1F3A"/>
                </a:solidFill>
                <a:latin typeface="Calibri"/>
              </a:rPr>
              <a:t>Scoped read/write: </a:t>
            </a:r>
            <a:r>
              <a:rPr sz="1150" b="0">
                <a:solidFill>
                  <a:srgbClr val="2A3340"/>
                </a:solidFill>
                <a:latin typeface="Calibri"/>
              </a:rPr>
              <a:t>work freely inside /workspace, your real project folder on the cluster.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2E7D5B"/>
                </a:solidFill>
                <a:latin typeface="Calibri"/>
              </a:rPr>
              <a:t>▸  </a:t>
            </a:r>
            <a:r>
              <a:rPr sz="1150" b="1">
                <a:solidFill>
                  <a:srgbClr val="0B1F3A"/>
                </a:solidFill>
                <a:latin typeface="Calibri"/>
              </a:rPr>
              <a:t>Built for Chimera: </a:t>
            </a:r>
            <a:r>
              <a:rPr sz="1150" b="0">
                <a:solidFill>
                  <a:srgbClr val="2A3340"/>
                </a:solidFill>
                <a:latin typeface="Calibri"/>
              </a:rPr>
              <a:t>hpc.troja.mff.cuni.cz, attached via srun --overlap.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000" b="0">
                <a:solidFill>
                  <a:srgbClr val="E8EEF4"/>
                </a:solidFill>
                <a:latin typeface="Calibri"/>
              </a:rPr>
              <a:t>MCP Servers for Biomedical Research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6492240"/>
            <a:ext cx="12161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r"/>
            <a:r>
              <a:rPr sz="1000" b="1">
                <a:solidFill>
                  <a:srgbClr val="F2A65A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C9B14-CD16-48E9-05D2-3EEF1243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F0DAA3-497E-A42E-553F-4069A3AFD54A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The Risk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D3A5F2D-8E5F-6E09-FDC4-C2A1B4FC38F6}"/>
              </a:ext>
            </a:extLst>
          </p:cNvPr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AI agents will do the task and then clean after themselves</a:t>
            </a:r>
          </a:p>
        </p:txBody>
      </p:sp>
      <p:sp>
        <p:nvSpPr>
          <p:cNvPr id="4" name="Accent">
            <a:extLst>
              <a:ext uri="{FF2B5EF4-FFF2-40B4-BE49-F238E27FC236}">
                <a16:creationId xmlns:a16="http://schemas.microsoft.com/office/drawing/2014/main" id="{3B0E62CD-540C-04BC-9B70-4A04E915C3E3}"/>
              </a:ext>
            </a:extLst>
          </p:cNvPr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FooterBar">
            <a:extLst>
              <a:ext uri="{FF2B5EF4-FFF2-40B4-BE49-F238E27FC236}">
                <a16:creationId xmlns:a16="http://schemas.microsoft.com/office/drawing/2014/main" id="{EAF66569-513F-E415-280C-6AF7D52DF2D8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>
            <a:extLst>
              <a:ext uri="{FF2B5EF4-FFF2-40B4-BE49-F238E27FC236}">
                <a16:creationId xmlns:a16="http://schemas.microsoft.com/office/drawing/2014/main" id="{194E73D5-C1EF-F390-3C22-79C265C4EF35}"/>
              </a:ext>
            </a:extLst>
          </p:cNvPr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MCP Servers for Biomedical Research</a:t>
            </a:r>
          </a:p>
        </p:txBody>
      </p:sp>
      <p:sp>
        <p:nvSpPr>
          <p:cNvPr id="100" name="FooterR">
            <a:extLst>
              <a:ext uri="{FF2B5EF4-FFF2-40B4-BE49-F238E27FC236}">
                <a16:creationId xmlns:a16="http://schemas.microsoft.com/office/drawing/2014/main" id="{1B9036B9-E3B4-3B63-2696-468769A73F46}"/>
              </a:ext>
            </a:extLst>
          </p:cNvPr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6 / 6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667D8DD-70B0-8D9E-699A-B8ED24409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2" y="1632866"/>
            <a:ext cx="11948675" cy="33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2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Take Away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is the standard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Open standard backed by Anthropic, OpenAI, Google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Linux Foundation governance since Dec 2025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5,800+ servers, 300+ clients in the ecosystem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49224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is a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Parsing stdout is fragile and error-prone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Typed JSON-RPC removes guessing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Structured errors beat grep on stderr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5394960" cy="640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6868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Chimera MCP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Our MCP server for the university HPC cluster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Submit, monitor, fetch - from any AI 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649224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Build, don’t wrap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Every tool you make is instantly available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Schema validation catches mistakes early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Agents compose tools you never imagined together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894</Words>
  <Application>Microsoft Macintosh PowerPoint</Application>
  <PresentationFormat>Širokoúhlá obrazovka</PresentationFormat>
  <Paragraphs>111</Paragraphs>
  <Slides>9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Your name</dc:creator>
  <cp:lastModifiedBy>Preisler Tomáš</cp:lastModifiedBy>
  <cp:revision>7</cp:revision>
  <dcterms:created xsi:type="dcterms:W3CDTF">2026-05-10T19:40:04Z</dcterms:created>
  <dcterms:modified xsi:type="dcterms:W3CDTF">2026-06-16T12:11:21Z</dcterms:modified>
</cp:coreProperties>
</file>