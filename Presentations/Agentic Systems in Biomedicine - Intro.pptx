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61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66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64592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Systems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Biomedicine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— an introduction to LLM-powered agents for biomedical research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Preisler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Session  •  Part 1 of the Workshop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introduction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Terminology &amp; concepts
</a:t>
            </a:r>
            <a:r>
              <a:rPr lang="en-US" sz="1200" i="1" dirty="0">
                <a:solidFill>
                  <a:srgbClr val="5C6B7A"/>
                </a:solidFill>
              </a:rPr>
              <a:t>LLMs, agents, tools, multi-agent systems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400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591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How agents work
</a:t>
            </a:r>
            <a:r>
              <a:rPr lang="en-US" sz="1200" i="1" dirty="0">
                <a:solidFill>
                  <a:srgbClr val="5C6B7A"/>
                </a:solidFill>
              </a:rPr>
              <a:t>How an LLM-based agent thinks and acts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072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API keys explained
</a:t>
            </a:r>
            <a:r>
              <a:rPr lang="en-US" sz="1200" i="1" dirty="0">
                <a:solidFill>
                  <a:srgbClr val="5C6B7A"/>
                </a:solidFill>
              </a:rPr>
              <a:t>Authentication for connecting to model providers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4008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8561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Course agent lineup
</a:t>
            </a:r>
            <a:r>
              <a:rPr lang="en-US" sz="1200" i="1" dirty="0">
                <a:solidFill>
                  <a:srgbClr val="5C6B7A"/>
                </a:solidFill>
              </a:rPr>
              <a:t>The six agent types we will build together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544568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4008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4988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Biomedical systems today
</a:t>
            </a:r>
            <a:r>
              <a:rPr lang="en-US" sz="1200" i="1" dirty="0">
                <a:solidFill>
                  <a:srgbClr val="5C6B7A"/>
                </a:solidFill>
              </a:rPr>
              <a:t>Real biomedical agent systems in production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Strengths &amp; limits
</a:t>
            </a:r>
            <a:r>
              <a:rPr lang="en-US" sz="1200" i="1" dirty="0">
                <a:solidFill>
                  <a:srgbClr val="5C6B7A"/>
                </a:solidFill>
              </a:rPr>
              <a:t>Limitations, safety, and responsible deployment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Agentic Systems in Biomedicine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vs.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difference between answering and acting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Generates a text response based only on its training. One turn in, one turn out. It cannot access the internet, run code, or check a database — it can only describe what it would 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Plans the steps, uses external tools, observes results, and decides what to do next. The LLM is the brain, but it now has hands — it can search, compute, query, and write files.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Bottom line:  </a:t>
            </a:r>
            <a:r>
              <a:rPr lang="en-US" sz="1300" dirty="0">
                <a:solidFill>
                  <a:srgbClr val="FFFFFF"/>
                </a:solidFill>
              </a:rPr>
              <a:t>an agent is an LLM that can take actions in the world, not just describe them.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Agentic Systems in Biomedicine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Key Terminology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An agent is built in layers</a:t>
            </a:r>
          </a:p>
        </p:txBody>
      </p:sp>
      <p:sp>
        <p:nvSpPr>
          <p:cNvPr id="4" name="Accent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4-Agent"/>
          <p:cNvSpPr/>
          <p:nvPr/>
        </p:nvSpPr>
        <p:spPr>
          <a:xfrm>
            <a:off x="640080" y="164592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0"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Agent</a:t>
            </a:r>
            <a:r>
              <a:rPr lang="en-US" sz="1300" dirty="0">
                <a:solidFill>
                  <a:srgbClr val="0B1F3A"/>
                </a:solidFill>
                <a:latin typeface="Calibri"/>
              </a:rPr>
              <a:t>  —  the orchestrator</a:t>
            </a:r>
          </a:p>
        </p:txBody>
      </p:sp>
      <p:sp>
        <p:nvSpPr>
          <p:cNvPr id="11" name="L3-MCP"/>
          <p:cNvSpPr/>
          <p:nvPr/>
        </p:nvSpPr>
        <p:spPr>
          <a:xfrm>
            <a:off x="640080" y="246888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0"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MCP</a:t>
            </a:r>
            <a:r>
              <a:rPr lang="en-US" sz="1300" dirty="0">
                <a:solidFill>
                  <a:srgbClr val="E8EEF4"/>
                </a:solidFill>
                <a:latin typeface="Calibri"/>
              </a:rPr>
              <a:t>  —  the standard wiring</a:t>
            </a:r>
          </a:p>
        </p:txBody>
      </p:sp>
      <p:sp>
        <p:nvSpPr>
          <p:cNvPr id="12" name="L2-Tools"/>
          <p:cNvSpPr/>
          <p:nvPr/>
        </p:nvSpPr>
        <p:spPr>
          <a:xfrm>
            <a:off x="640080" y="329184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0"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Tools</a:t>
            </a:r>
            <a:r>
              <a:rPr lang="en-US" sz="1300" dirty="0">
                <a:solidFill>
                  <a:srgbClr val="E8EEF4"/>
                </a:solidFill>
                <a:latin typeface="Calibri"/>
              </a:rPr>
              <a:t>  —  the hands</a:t>
            </a:r>
          </a:p>
        </p:txBody>
      </p:sp>
      <p:sp>
        <p:nvSpPr>
          <p:cNvPr id="13" name="L1-LLM"/>
          <p:cNvSpPr/>
          <p:nvPr/>
        </p:nvSpPr>
        <p:spPr>
          <a:xfrm>
            <a:off x="640080" y="4114800"/>
            <a:ext cx="4114800" cy="7315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 w="0"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LLM</a:t>
            </a:r>
            <a:r>
              <a:rPr lang="en-US" sz="1300" dirty="0">
                <a:solidFill>
                  <a:srgbClr val="E8EEF4"/>
                </a:solidFill>
                <a:latin typeface="Calibri"/>
              </a:rPr>
              <a:t>  —  the brain</a:t>
            </a:r>
          </a:p>
        </p:txBody>
      </p:sp>
      <p:sp>
        <p:nvSpPr>
          <p:cNvPr id="20" name="DescAgent"/>
          <p:cNvSpPr/>
          <p:nvPr/>
        </p:nvSpPr>
        <p:spPr>
          <a:xfrm>
            <a:off x="512064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Plans, decides, and runs the loop.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Takes a goal, picks which tool to call next, reads the result, decides whether to keep going.</a:t>
            </a:r>
          </a:p>
        </p:txBody>
      </p:sp>
      <p:sp>
        <p:nvSpPr>
          <p:cNvPr id="21" name="DescMCP"/>
          <p:cNvSpPr/>
          <p:nvPr/>
        </p:nvSpPr>
        <p:spPr>
          <a:xfrm>
            <a:off x="5120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Model Context Protocol.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A common language for plugging tools into agents — like USB for AI. Connect once, reuse anywhere.</a:t>
            </a:r>
          </a:p>
        </p:txBody>
      </p:sp>
      <p:sp>
        <p:nvSpPr>
          <p:cNvPr id="22" name="DescTools"/>
          <p:cNvSpPr/>
          <p:nvPr/>
        </p:nvSpPr>
        <p:spPr>
          <a:xfrm>
            <a:off x="512064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External functions the LLM can call.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Web search, Python execution, BLAST, PubMed query — anything with a defined input and output.</a:t>
            </a:r>
          </a:p>
        </p:txBody>
      </p:sp>
      <p:sp>
        <p:nvSpPr>
          <p:cNvPr id="23" name="DescLLM"/>
          <p:cNvSpPr/>
          <p:nvPr/>
        </p:nvSpPr>
        <p:spPr>
          <a:xfrm>
            <a:off x="5120640" y="4114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/>
              </a:rPr>
              <a:t>Large Language Model. </a:t>
            </a:r>
            <a:r>
              <a:rPr lang="en-US" sz="1300" dirty="0">
                <a:solidFill>
                  <a:srgbClr val="1A1A1A"/>
                </a:solidFill>
                <a:latin typeface="Calibri"/>
              </a:rPr>
              <a:t>The reasoning engine — GPT, Claude, Gemini, Llama. Generates text and tool-call instructions.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How an Agent Works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A loop, not a pipeline — the agent keeps cycling until the goal is met</a:t>
            </a:r>
          </a:p>
        </p:txBody>
      </p:sp>
      <p:sp>
        <p:nvSpPr>
          <p:cNvPr id="4" name="Accent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enterHub"/>
          <p:cNvSpPr/>
          <p:nvPr/>
        </p:nvSpPr>
        <p:spPr>
          <a:xfrm>
            <a:off x="2514600" y="2963732"/>
            <a:ext cx="1371600" cy="8229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Georgia"/>
                <a:ea typeface="Georgia"/>
                <a:cs typeface="Georgia"/>
              </a:rPr>
              <a:t>Agent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  <a:latin typeface="Calibri"/>
              </a:rPr>
              <a:t>Loop</a:t>
            </a:r>
          </a:p>
        </p:txBody>
      </p:sp>
      <p:sp>
        <p:nvSpPr>
          <p:cNvPr id="10" name="Step1"/>
          <p:cNvSpPr/>
          <p:nvPr/>
        </p:nvSpPr>
        <p:spPr>
          <a:xfrm>
            <a:off x="640080" y="1645920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F2A65A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/>
              </a:rPr>
              <a:t>1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Plan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/>
              </a:rPr>
              <a:t>which tool next?</a:t>
            </a:r>
          </a:p>
        </p:txBody>
      </p:sp>
      <p:sp>
        <p:nvSpPr>
          <p:cNvPr id="11" name="Step2"/>
          <p:cNvSpPr/>
          <p:nvPr/>
        </p:nvSpPr>
        <p:spPr>
          <a:xfrm>
            <a:off x="3749040" y="1645920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2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Call Tool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execute with args</a:t>
            </a:r>
          </a:p>
        </p:txBody>
      </p:sp>
      <p:sp>
        <p:nvSpPr>
          <p:cNvPr id="12" name="Step3"/>
          <p:cNvSpPr/>
          <p:nvPr/>
        </p:nvSpPr>
        <p:spPr>
          <a:xfrm>
            <a:off x="3886200" y="3878132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2E7D5B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3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Observe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read the result</a:t>
            </a:r>
          </a:p>
        </p:txBody>
      </p:sp>
      <p:sp>
        <p:nvSpPr>
          <p:cNvPr id="13" name="Step4"/>
          <p:cNvSpPr/>
          <p:nvPr/>
        </p:nvSpPr>
        <p:spPr>
          <a:xfrm>
            <a:off x="777240" y="3878132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11355C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4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Decide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done, or loop again</a:t>
            </a:r>
          </a:p>
        </p:txBody>
      </p:sp>
      <p:sp>
        <p:nvSpPr>
          <p:cNvPr id="20" name="ArrTop"/>
          <p:cNvSpPr/>
          <p:nvPr/>
        </p:nvSpPr>
        <p:spPr>
          <a:xfrm>
            <a:off x="2697480" y="2011680"/>
            <a:ext cx="1005840" cy="274320"/>
          </a:xfrm>
          <a:prstGeom prst="rightArrow">
            <a:avLst/>
          </a:prstGeom>
          <a:solidFill>
            <a:srgbClr val="5C6B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ArrRight"/>
          <p:cNvSpPr/>
          <p:nvPr/>
        </p:nvSpPr>
        <p:spPr>
          <a:xfrm rot="5400000">
            <a:off x="4389120" y="3108960"/>
            <a:ext cx="731520" cy="274320"/>
          </a:xfrm>
          <a:prstGeom prst="rightArrow">
            <a:avLst/>
          </a:prstGeom>
          <a:solidFill>
            <a:srgbClr val="5C6B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ArrBottom"/>
          <p:cNvSpPr/>
          <p:nvPr/>
        </p:nvSpPr>
        <p:spPr>
          <a:xfrm rot="10800000">
            <a:off x="2834640" y="4243892"/>
            <a:ext cx="1005840" cy="274320"/>
          </a:xfrm>
          <a:prstGeom prst="rightArrow">
            <a:avLst/>
          </a:prstGeom>
          <a:solidFill>
            <a:srgbClr val="5C6B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Left"/>
          <p:cNvSpPr/>
          <p:nvPr/>
        </p:nvSpPr>
        <p:spPr>
          <a:xfrm rot="16200000">
            <a:off x="1211580" y="3104925"/>
            <a:ext cx="731520" cy="274320"/>
          </a:xfrm>
          <a:prstGeom prst="rightArrow">
            <a:avLst/>
          </a:prstGeom>
          <a:solidFill>
            <a:srgbClr val="5C6B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ExHeader"/>
          <p:cNvSpPr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F2A65A"/>
                </a:solidFill>
                <a:latin typeface="Calibri"/>
              </a:rPr>
              <a:t>WALKTHROUGH:  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find genes linked to long-QT syndrome</a:t>
            </a:r>
          </a:p>
        </p:txBody>
      </p:sp>
      <p:sp>
        <p:nvSpPr>
          <p:cNvPr id="31" name="ExBody"/>
          <p:cNvSpPr/>
          <p:nvPr/>
        </p:nvSpPr>
        <p:spPr>
          <a:xfrm>
            <a:off x="6492240" y="2103120"/>
            <a:ext cx="5120640" cy="4297680"/>
          </a:xfrm>
          <a:prstGeom prst="rect">
            <a:avLst/>
          </a:prstGeom>
          <a:solidFill>
            <a:srgbClr val="F4F6F9"/>
          </a:solidFill>
          <a:ln w="6350">
            <a:solidFill>
              <a:srgbClr val="D5DBE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Ex1Num"/>
          <p:cNvSpPr/>
          <p:nvPr/>
        </p:nvSpPr>
        <p:spPr>
          <a:xfrm>
            <a:off x="6675120" y="2286000"/>
            <a:ext cx="365760" cy="36576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41" name="Ex1Text"/>
          <p:cNvSpPr/>
          <p:nvPr/>
        </p:nvSpPr>
        <p:spPr>
          <a:xfrm>
            <a:off x="7132320" y="2240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/>
              </a:rPr>
              <a:t>Plan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onsolas"/>
              </a:rPr>
              <a:t>“I need disease-gene associations. Use OMIM.”</a:t>
            </a:r>
          </a:p>
        </p:txBody>
      </p:sp>
      <p:sp>
        <p:nvSpPr>
          <p:cNvPr id="42" name="Ex2Num"/>
          <p:cNvSpPr/>
          <p:nvPr/>
        </p:nvSpPr>
        <p:spPr>
          <a:xfrm>
            <a:off x="6675120" y="32004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Ex2Text"/>
          <p:cNvSpPr/>
          <p:nvPr/>
        </p:nvSpPr>
        <p:spPr>
          <a:xfrm>
            <a:off x="713232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/>
              </a:rPr>
              <a:t>Call Tool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/>
              </a:rPr>
              <a:t>omim_search(“long QT syndrome”)</a:t>
            </a:r>
          </a:p>
        </p:txBody>
      </p:sp>
      <p:sp>
        <p:nvSpPr>
          <p:cNvPr id="44" name="Ex3Num"/>
          <p:cNvSpPr/>
          <p:nvPr/>
        </p:nvSpPr>
        <p:spPr>
          <a:xfrm>
            <a:off x="6675120" y="4114800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Ex3Text"/>
          <p:cNvSpPr/>
          <p:nvPr/>
        </p:nvSpPr>
        <p:spPr>
          <a:xfrm>
            <a:off x="7132320" y="4069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/>
              </a:rPr>
              <a:t>Observe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/>
              </a:rPr>
              <a:t>→ KCNQ1, KCNH2, SCN5A, ...</a:t>
            </a:r>
          </a:p>
        </p:txBody>
      </p:sp>
      <p:sp>
        <p:nvSpPr>
          <p:cNvPr id="46" name="Ex4Num"/>
          <p:cNvSpPr/>
          <p:nvPr/>
        </p:nvSpPr>
        <p:spPr>
          <a:xfrm>
            <a:off x="6675120" y="5029200"/>
            <a:ext cx="365760" cy="365760"/>
          </a:xfrm>
          <a:prstGeom prst="ellipse">
            <a:avLst/>
          </a:prstGeom>
          <a:solidFill>
            <a:srgbClr val="11355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Ex4Text"/>
          <p:cNvSpPr/>
          <p:nvPr/>
        </p:nvSpPr>
        <p:spPr>
          <a:xfrm>
            <a:off x="7132320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/>
              </a:rPr>
              <a:t>Decide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onsolas"/>
              </a:rPr>
              <a:t>“Need pathway context → loop with KEGG.”</a:t>
            </a:r>
          </a:p>
        </p:txBody>
      </p:sp>
      <p:sp>
        <p:nvSpPr>
          <p:cNvPr id="60" name="LoopNote"/>
          <p:cNvSpPr/>
          <p:nvPr/>
        </p:nvSpPr>
        <p:spPr>
          <a:xfrm>
            <a:off x="7132320" y="5760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/>
              </a:rPr>
              <a:t>The loop may run 5 or 50 times before the agent reports a final answer.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/>
                <a:ea typeface="Georgia"/>
                <a:cs typeface="Georgia"/>
              </a:rPr>
              <a:t>What Is an API Key?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/>
              </a:rPr>
              <a:t>The credential that lets your code talk to a model provider</a:t>
            </a:r>
          </a:p>
        </p:txBody>
      </p:sp>
      <p:sp>
        <p:nvSpPr>
          <p:cNvPr id="4" name="Accent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1"/>
          <p:cNvSpPr/>
          <p:nvPr/>
        </p:nvSpPr>
        <p:spPr>
          <a:xfrm>
            <a:off x="640080" y="164592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Your code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Python script, notebook, agent</a:t>
            </a:r>
          </a:p>
        </p:txBody>
      </p:sp>
      <p:sp>
        <p:nvSpPr>
          <p:cNvPr id="11" name="Arrow1"/>
          <p:cNvSpPr/>
          <p:nvPr/>
        </p:nvSpPr>
        <p:spPr>
          <a:xfrm>
            <a:off x="3017520" y="2057400"/>
            <a:ext cx="1188720" cy="274320"/>
          </a:xfrm>
          <a:prstGeom prst="rightArrow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1Label"/>
          <p:cNvSpPr/>
          <p:nvPr/>
        </p:nvSpPr>
        <p:spPr>
          <a:xfrm>
            <a:off x="29260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/>
              </a:rPr>
              <a:t>prompt + key</a:t>
            </a:r>
          </a:p>
        </p:txBody>
      </p:sp>
      <p:sp>
        <p:nvSpPr>
          <p:cNvPr id="13" name="Box2"/>
          <p:cNvSpPr/>
          <p:nvPr/>
        </p:nvSpPr>
        <p:spPr>
          <a:xfrm>
            <a:off x="4297680" y="164592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Provider API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verifies, routes, bills</a:t>
            </a:r>
          </a:p>
        </p:txBody>
      </p:sp>
      <p:sp>
        <p:nvSpPr>
          <p:cNvPr id="14" name="Arrow2"/>
          <p:cNvSpPr/>
          <p:nvPr/>
        </p:nvSpPr>
        <p:spPr>
          <a:xfrm>
            <a:off x="6675120" y="2057400"/>
            <a:ext cx="1188720" cy="274320"/>
          </a:xfrm>
          <a:prstGeom prst="rightArrow">
            <a:avLst/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2Label"/>
          <p:cNvSpPr/>
          <p:nvPr/>
        </p:nvSpPr>
        <p:spPr>
          <a:xfrm>
            <a:off x="65836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/>
              </a:rPr>
              <a:t>run inference</a:t>
            </a:r>
          </a:p>
        </p:txBody>
      </p:sp>
      <p:sp>
        <p:nvSpPr>
          <p:cNvPr id="16" name="Box3"/>
          <p:cNvSpPr/>
          <p:nvPr/>
        </p:nvSpPr>
        <p:spPr>
          <a:xfrm>
            <a:off x="7955280" y="164592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generates response</a:t>
            </a:r>
          </a:p>
        </p:txBody>
      </p:sp>
      <p:sp>
        <p:nvSpPr>
          <p:cNvPr id="17" name="Return1"/>
          <p:cNvSpPr/>
          <p:nvPr/>
        </p:nvSpPr>
        <p:spPr>
          <a:xfrm rot="10800000">
            <a:off x="640080" y="2880360"/>
            <a:ext cx="9601200" cy="274320"/>
          </a:xfrm>
          <a:prstGeom prst="rightArrow">
            <a:avLst/>
          </a:prstGeom>
          <a:solidFill>
            <a:srgbClr val="5C6B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turnLabel"/>
          <p:cNvSpPr/>
          <p:nvPr/>
        </p:nvSpPr>
        <p:spPr>
          <a:xfrm>
            <a:off x="40233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C6B7A"/>
                </a:solidFill>
                <a:latin typeface="Calibri"/>
              </a:rPr>
              <a:t>response (text) + token usage charged to your account</a:t>
            </a:r>
          </a:p>
        </p:txBody>
      </p:sp>
      <p:sp>
        <p:nvSpPr>
          <p:cNvPr id="30" name="CodeHeader"/>
          <p:cNvSpPr/>
          <p:nvPr/>
        </p:nvSpPr>
        <p:spPr>
          <a:xfrm>
            <a:off x="640080" y="3703320"/>
            <a:ext cx="621792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000" b="1" spc="200" dirty="0">
                <a:solidFill>
                  <a:srgbClr val="F2A65A"/>
                </a:solidFill>
                <a:latin typeface="Calibri"/>
              </a:rPr>
              <a:t>WHAT IT LOOKS LIKE IN CODE</a:t>
            </a:r>
          </a:p>
        </p:txBody>
      </p:sp>
      <p:sp>
        <p:nvSpPr>
          <p:cNvPr id="31" name="CodeBody"/>
          <p:cNvSpPr/>
          <p:nvPr/>
        </p:nvSpPr>
        <p:spPr>
          <a:xfrm>
            <a:off x="640080" y="4069080"/>
            <a:ext cx="6217920" cy="20574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txBody>
          <a:bodyPr wrap="square" lIns="274320" tIns="182880" rIns="27432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8B8"/>
                </a:solidFill>
                <a:latin typeface="Consolas"/>
              </a:rPr>
              <a:t># load from environment, never hardcode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2A65A"/>
                </a:solidFill>
                <a:latin typeface="Consolas"/>
              </a:rPr>
              <a:t>api_key </a:t>
            </a:r>
            <a:r>
              <a:rPr lang="en-US" sz="1100" dirty="0">
                <a:solidFill>
                  <a:srgbClr val="E8EEF4"/>
                </a:solidFill>
                <a:latin typeface="Consolas"/>
              </a:rPr>
              <a:t>= os.environ[</a:t>
            </a:r>
            <a:r>
              <a:rPr lang="en-US" sz="1100" dirty="0">
                <a:solidFill>
                  <a:srgbClr val="A8D8B9"/>
                </a:solidFill>
                <a:latin typeface="Consolas"/>
              </a:rPr>
              <a:t>“OPENAI_API_KEY”</a:t>
            </a:r>
            <a:r>
              <a:rPr lang="en-US" sz="1100" dirty="0">
                <a:solidFill>
                  <a:srgbClr val="E8EEF4"/>
                </a:solidFill>
                <a:latin typeface="Consolas"/>
              </a:rPr>
              <a:t>]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100" dirty="0">
                <a:solidFill>
                  <a:srgbClr val="9CA8B8"/>
                </a:solidFill>
                <a:latin typeface="Consolas"/>
              </a:rPr>
              <a:t># the key is sent in every request header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onsolas"/>
              </a:rPr>
              <a:t>client = OpenAI(api_key=api_key)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onsolas"/>
              </a:rPr>
              <a:t>resp = client.chat.completions.create(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onsolas"/>
              </a:rPr>
              <a:t>    model=</a:t>
            </a:r>
            <a:r>
              <a:rPr lang="en-US" sz="1100" dirty="0">
                <a:solidFill>
                  <a:srgbClr val="A8D8B9"/>
                </a:solidFill>
                <a:latin typeface="Consolas"/>
              </a:rPr>
              <a:t>“gpt-4”</a:t>
            </a:r>
            <a:r>
              <a:rPr lang="en-US" sz="1100" dirty="0">
                <a:solidFill>
                  <a:srgbClr val="E8EEF4"/>
                </a:solidFill>
                <a:latin typeface="Consolas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onsolas"/>
              </a:rPr>
              <a:t>    messages=[...])</a:t>
            </a:r>
          </a:p>
        </p:txBody>
      </p:sp>
      <p:sp>
        <p:nvSpPr>
          <p:cNvPr id="40" name="KeyExample"/>
          <p:cNvSpPr/>
          <p:nvPr/>
        </p:nvSpPr>
        <p:spPr>
          <a:xfrm>
            <a:off x="7040880" y="3703320"/>
            <a:ext cx="44805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5DBE3"/>
            </a:solidFill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000" b="1" spc="200" dirty="0">
                <a:solidFill>
                  <a:srgbClr val="0B1F3A"/>
                </a:solidFill>
                <a:latin typeface="Calibri"/>
              </a:rPr>
              <a:t>WHAT A KEY LOOKS LIKE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/>
              </a:rPr>
              <a:t>sk-proj-</a:t>
            </a:r>
            <a:r>
              <a:rPr lang="en-US" sz="1300" dirty="0">
                <a:solidFill>
                  <a:srgbClr val="5C6B7A"/>
                </a:solidFill>
                <a:latin typeface="Consolas"/>
              </a:rPr>
              <a:t>aB3xK9p2Lm4Q...Wn8z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/>
              </a:rPr>
              <a:t>~50 random characters — uniquely identifies you</a:t>
            </a:r>
          </a:p>
        </p:txBody>
      </p:sp>
      <p:sp>
        <p:nvSpPr>
          <p:cNvPr id="50" name="WarnBox"/>
          <p:cNvSpPr/>
          <p:nvPr/>
        </p:nvSpPr>
        <p:spPr>
          <a:xfrm>
            <a:off x="7040880" y="4663440"/>
            <a:ext cx="4480560" cy="1463040"/>
          </a:xfrm>
          <a:prstGeom prst="rect">
            <a:avLst/>
          </a:prstGeom>
          <a:solidFill>
            <a:srgbClr val="FFF4E6"/>
          </a:solidFill>
          <a:ln w="6350">
            <a:solidFill>
              <a:srgbClr val="F2A6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WarnContent"/>
          <p:cNvSpPr/>
          <p:nvPr/>
        </p:nvSpPr>
        <p:spPr>
          <a:xfrm>
            <a:off x="7223760" y="4754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/>
              </a:rPr>
              <a:t>⚠ Treat it like a credit card</a:t>
            </a:r>
          </a:p>
          <a:p>
            <a:pPr marL="0" indent="0">
              <a:buNone/>
            </a:pPr>
            <a:endParaRPr lang="en-US" sz="600"/>
          </a:p>
          <a:p>
            <a:pPr marL="91440" indent="-91440">
              <a:buFont typeface="Arial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/>
              </a:rPr>
              <a:t>Never commit to Git or paste in chats</a:t>
            </a:r>
          </a:p>
          <a:p>
            <a:pPr marL="91440" indent="-91440">
              <a:buFont typeface="Arial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/>
              </a:rPr>
              <a:t>Store in env vars or a secrets manager</a:t>
            </a:r>
          </a:p>
          <a:p>
            <a:pPr marL="91440" indent="-91440">
              <a:buFont typeface="Arial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/>
              </a:rPr>
              <a:t>Rotate immediately if leaked</a:t>
            </a:r>
          </a:p>
          <a:p>
            <a:pPr marL="91440" indent="-91440">
              <a:buFont typeface="Arial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/>
              </a:rPr>
              <a:t>Leaked keys = stolen money</a:t>
            </a:r>
          </a:p>
        </p:txBody>
      </p:sp>
      <p:sp>
        <p:nvSpPr>
          <p:cNvPr id="98" name="FooterBar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FooterL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/>
              </a:rPr>
              <a:t>Agentic Systems in Biomedicine</a:t>
            </a:r>
          </a:p>
        </p:txBody>
      </p:sp>
      <p:sp>
        <p:nvSpPr>
          <p:cNvPr id="100" name="FooterR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Agents We Will Build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The familiar entry point: a conversational interface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Adds tool calls — web search, calculator, code execution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Your first hands-on exercise of the workshop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9224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Assistant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Reads your calendar, drafts emails, manages notes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Connects to multiple services through MCP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Shows how agents coordinate across everyday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5394960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Interpreter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Loads your experimental data and runs analysis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Writes Python on the fly: stats, plots, summaries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Turns raw CSVs into publishable figures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49224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Agents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Deep Research: multi-step web investigation across sources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Literature Agent: PubMed search, paper summarization, citation graphs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Both demonstrate long-horizon, autonomous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2A65A"/>
                </a:solidFill>
              </a:rPr>
              <a:t>Plus:  </a:t>
            </a:r>
            <a:r>
              <a:rPr lang="en-US" sz="1600" dirty="0">
                <a:solidFill>
                  <a:srgbClr val="FFFFFF"/>
                </a:solidFill>
              </a:rPr>
              <a:t>and a live demo of an HPC Operator agent that submits jobs to a compute cluster on your behalf.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Biomedical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production-grade agentic systems published in 2024–2025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657600" cy="7772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Biomni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Stanford,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biomedical agent that autonomously runs research tasks across genomics, drug discovery, and clinical analysis.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3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Causal gene prioritization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Drug repurposing &amp; rare-disease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Multi-omics (wearables, scRNA-seq)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+ </a:t>
            </a:r>
            <a:r>
              <a:rPr lang="en-US" sz="1000" dirty="0">
                <a:solidFill>
                  <a:srgbClr val="1A1A1A"/>
                </a:solidFill>
              </a:rPr>
              <a:t>Broadest scope, runs locally with your data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4536"/>
                </a:solidFill>
              </a:rPr>
              <a:t>− </a:t>
            </a:r>
            <a:r>
              <a:rPr lang="en-US" sz="1000" dirty="0">
                <a:solidFill>
                  <a:srgbClr val="1A1A1A"/>
                </a:solidFill>
              </a:rPr>
              <a:t>Executes code with full privileges — sandbox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5166360"/>
            <a:ext cx="3657600" cy="457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1148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3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biomni.stanford.edu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150876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251960" y="1508760"/>
            <a:ext cx="36576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25196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TxAgent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51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Harvard, 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Therapeutic-reasoning agent that analyzes drug interactions and contraindications using 211 curated biomedical tools.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3108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FDA drug database integration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Open Targets &amp; Monarch ontology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Multi-step clinical reasoning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+ </a:t>
            </a:r>
            <a:r>
              <a:rPr lang="en-US" sz="1000" dirty="0">
                <a:solidFill>
                  <a:srgbClr val="1A1A1A"/>
                </a:solidFill>
              </a:rPr>
              <a:t>Grounded in real, up-to-date drug data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4536"/>
                </a:solidFill>
              </a:rPr>
              <a:t>− </a:t>
            </a:r>
            <a:r>
              <a:rPr lang="en-US" sz="1000" dirty="0">
                <a:solidFill>
                  <a:srgbClr val="1A1A1A"/>
                </a:solidFill>
              </a:rPr>
              <a:t>Narrow to therapeutics; limited beyond drugs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5166360"/>
            <a:ext cx="3657600" cy="457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425196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github.com/mims-harvard/TxAgent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440" y="150876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8092440" y="1508760"/>
            <a:ext cx="36576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809244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ChemCrow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924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EPFL, 2024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agent that plans organic synthesis, designs molecules, and queries reaction databases through 18 expert tools.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3108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Synthesis planning &amp; retrosynthesis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Molecule property prediction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dirty="0">
                <a:solidFill>
                  <a:srgbClr val="1A1A1A"/>
                </a:solidFill>
              </a:rPr>
              <a:t>Reaction execution on cloud labs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+ </a:t>
            </a:r>
            <a:r>
              <a:rPr lang="en-US" sz="1000" dirty="0">
                <a:solidFill>
                  <a:srgbClr val="1A1A1A"/>
                </a:solidFill>
              </a:rPr>
              <a:t>Tight integration with lab workflows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4536"/>
                </a:solidFill>
              </a:rPr>
              <a:t>− </a:t>
            </a:r>
            <a:r>
              <a:rPr lang="en-US" sz="1000" dirty="0">
                <a:solidFill>
                  <a:srgbClr val="1A1A1A"/>
                </a:solidFill>
              </a:rPr>
              <a:t>Chemistry-only scope; needs lab access for full power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5166360"/>
            <a:ext cx="3657600" cy="457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809244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github.com/ur-whitelab/chemcrow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Agentic Systems in Biomedicine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Watch Out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for safe and meaningful agent deployment in research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44536"/>
                </a:solidFill>
              </a:rPr>
              <a:t>✗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Agents hallucinate, make wrong tool choices, can leak credentials, and execute code they should not. In biomedicine, a confident-but-wrong answer can mislead an entire experiment.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8EEF4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B57"/>
                </a:solidFill>
              </a:rPr>
              <a:t>✓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practice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Sandbox code execution, keep humans in the loop for critical decisions, log every tool call, and treat agent outputs as hypotheses to verify — not conclusions to trust.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Bottom line:  </a:t>
            </a:r>
            <a:r>
              <a:rPr lang="en-US" sz="1300" dirty="0">
                <a:solidFill>
                  <a:srgbClr val="FFFFFF"/>
                </a:solidFill>
              </a:rPr>
              <a:t>an agent is a powerful collaborator, not an oracle. Verify before you trust.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EEF4"/>
                </a:solidFill>
                <a:latin typeface="Calibri" pitchFamily="34" charset="0"/>
                <a:cs typeface="Calibri" pitchFamily="34" charset="-120"/>
              </a:rPr>
              <a:t>Agentic Systems in Biomedicine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Take Away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mental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Chatbot answers; agent acts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Goal → Plan → Tool → Observe → Decide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The loop runs until the goal is met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49224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LLM, Tool, Agent, MCP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API key — your authenticated access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Multi-agent — agents that call agents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5394960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Biomni for general biomedical research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TxAgent for therapeutic reasoning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ChemCrow for chemistry workflows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394960" cy="1691640"/>
          </a:xfrm>
          <a:prstGeom prst="rect">
            <a:avLst/>
          </a:prstGeom>
          <a:solidFill>
            <a:srgbClr val="11355C"/>
          </a:solidFill>
          <a:ln w="12700">
            <a:solidFill>
              <a:srgbClr val="11355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394960" cy="640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49224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mindset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Sandbox everything that runs code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Verify outputs — do not trust blindly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E8EEF4"/>
                </a:solidFill>
              </a:rPr>
              <a:t>Keep a human in the loop for critical steps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2A65A"/>
                </a:solidFill>
              </a:rPr>
              <a:t>Next:  </a:t>
            </a:r>
            <a:r>
              <a:rPr lang="en-US" sz="1600" dirty="0">
                <a:solidFill>
                  <a:srgbClr val="FFFFFF"/>
                </a:solidFill>
              </a:rPr>
              <a:t>we build our first agent — starting from a chatbot and adding tools, one at a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1214</Words>
  <Application>Microsoft Macintosh PowerPoint</Application>
  <PresentationFormat>Širokoúhlá obrazovka</PresentationFormat>
  <Paragraphs>197</Paragraphs>
  <Slides>10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Your name</dc:creator>
  <cp:lastModifiedBy>Preisler Tomáš</cp:lastModifiedBy>
  <cp:revision>4</cp:revision>
  <dcterms:created xsi:type="dcterms:W3CDTF">2026-05-10T19:40:04Z</dcterms:created>
  <dcterms:modified xsi:type="dcterms:W3CDTF">2026-05-12T12:58:52Z</dcterms:modified>
</cp:coreProperties>
</file>