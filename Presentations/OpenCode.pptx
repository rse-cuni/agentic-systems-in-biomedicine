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146304"/>
          </a:xfrm>
          <a:prstGeom prst="ellipse">
            <a:avLst/>
          </a:prstGeom>
          <a:solidFill>
            <a:srgbClr val="F2A65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" y="502920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" y="502920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16736" y="502920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72768" y="502920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73736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OpenCode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868680" y="269748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2A6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coding agents in your terminal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86968" y="3611880"/>
            <a:ext cx="9692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50" i="1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open-source, terminal-native coding agent. Connect it to e-INFRA models, add MCP tools, and build your own agents and subagents.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86968" y="4434840"/>
            <a:ext cx="1371600" cy="4114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11" name="Text 9"/>
          <p:cNvSpPr/>
          <p:nvPr/>
        </p:nvSpPr>
        <p:spPr>
          <a:xfrm>
            <a:off x="886968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6126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80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Systems in Biomedicine   •   OpenCode Session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09728" cy="47548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76656" y="969264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 in this session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3611880" cy="2103120"/>
          </a:xfrm>
          <a:prstGeom prst="roundRect">
            <a:avLst>
              <a:gd name="adj" fmla="val 2174"/>
            </a:avLst>
          </a:prstGeom>
          <a:solidFill>
            <a:srgbClr val="E8EEF4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" y="1719072"/>
            <a:ext cx="621792" cy="621792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719072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2A6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713232" y="2432304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OpenCode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13232" y="3054096"/>
            <a:ext cx="30998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C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tool, its architecture, and why it's different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481328"/>
            <a:ext cx="3611880" cy="2103120"/>
          </a:xfrm>
          <a:prstGeom prst="roundRect">
            <a:avLst>
              <a:gd name="adj" fmla="val 2174"/>
            </a:avLst>
          </a:prstGeom>
          <a:solidFill>
            <a:srgbClr val="E8EEF4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26864" y="1719072"/>
            <a:ext cx="621792" cy="621792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2" name="Text 10"/>
          <p:cNvSpPr/>
          <p:nvPr/>
        </p:nvSpPr>
        <p:spPr>
          <a:xfrm>
            <a:off x="4626864" y="1719072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2A6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4626864" y="2432304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Install &amp; first run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26864" y="3054096"/>
            <a:ext cx="30998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C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CLI, launch the TUI, basic navigation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84464" y="1481328"/>
            <a:ext cx="3611880" cy="2103120"/>
          </a:xfrm>
          <a:prstGeom prst="roundRect">
            <a:avLst>
              <a:gd name="adj" fmla="val 2174"/>
            </a:avLst>
          </a:prstGeom>
          <a:solidFill>
            <a:srgbClr val="E8EEF4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0496" y="1719072"/>
            <a:ext cx="621792" cy="621792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/>
          <p:nvPr/>
        </p:nvSpPr>
        <p:spPr>
          <a:xfrm>
            <a:off x="8540496" y="1719072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2A6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8540496" y="2432304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e-INFRA models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540496" y="3054096"/>
            <a:ext cx="30998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C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OpenCode at llm.ai.e-infra.cz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22192"/>
            <a:ext cx="3611880" cy="2103120"/>
          </a:xfrm>
          <a:prstGeom prst="roundRect">
            <a:avLst>
              <a:gd name="adj" fmla="val 2174"/>
            </a:avLst>
          </a:prstGeom>
          <a:solidFill>
            <a:srgbClr val="E8EEF4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3232" y="4059936"/>
            <a:ext cx="621792" cy="621792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059936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2A6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300" dirty="0"/>
          </a:p>
        </p:txBody>
      </p:sp>
      <p:sp>
        <p:nvSpPr>
          <p:cNvPr id="23" name="Text 21"/>
          <p:cNvSpPr/>
          <p:nvPr/>
        </p:nvSpPr>
        <p:spPr>
          <a:xfrm>
            <a:off x="713232" y="4773168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MCP servers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13232" y="5394960"/>
            <a:ext cx="30998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C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in external tools, local and remote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70832" y="3822192"/>
            <a:ext cx="3611880" cy="2103120"/>
          </a:xfrm>
          <a:prstGeom prst="roundRect">
            <a:avLst>
              <a:gd name="adj" fmla="val 2174"/>
            </a:avLst>
          </a:prstGeom>
          <a:solidFill>
            <a:srgbClr val="E8EEF4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26864" y="4059936"/>
            <a:ext cx="621792" cy="621792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27" name="Text 25"/>
          <p:cNvSpPr/>
          <p:nvPr/>
        </p:nvSpPr>
        <p:spPr>
          <a:xfrm>
            <a:off x="4626864" y="4059936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2A6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300" dirty="0"/>
          </a:p>
        </p:txBody>
      </p:sp>
      <p:sp>
        <p:nvSpPr>
          <p:cNvPr id="28" name="Text 26"/>
          <p:cNvSpPr/>
          <p:nvPr/>
        </p:nvSpPr>
        <p:spPr>
          <a:xfrm>
            <a:off x="4626864" y="4773168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Agents &amp; subagents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626864" y="5394960"/>
            <a:ext cx="30998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C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focused assistants and delegate work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284464" y="3822192"/>
            <a:ext cx="3611880" cy="2103120"/>
          </a:xfrm>
          <a:prstGeom prst="roundRect">
            <a:avLst>
              <a:gd name="adj" fmla="val 2174"/>
            </a:avLst>
          </a:prstGeom>
          <a:solidFill>
            <a:srgbClr val="E8EEF4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40496" y="4059936"/>
            <a:ext cx="621792" cy="621792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32" name="Text 30"/>
          <p:cNvSpPr/>
          <p:nvPr/>
        </p:nvSpPr>
        <p:spPr>
          <a:xfrm>
            <a:off x="8540496" y="4059936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2A6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300" dirty="0"/>
          </a:p>
        </p:txBody>
      </p:sp>
      <p:sp>
        <p:nvSpPr>
          <p:cNvPr id="33" name="Text 31"/>
          <p:cNvSpPr/>
          <p:nvPr/>
        </p:nvSpPr>
        <p:spPr>
          <a:xfrm>
            <a:off x="8540496" y="4773168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Sandboxing &amp; permissions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540496" y="5394960"/>
            <a:ext cx="30998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C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what the agent is allowed to do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647395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EBE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— AI coding agents in your terminal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0332720" y="6473952"/>
            <a:ext cx="13990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EBE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09728" cy="47548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OpenCode?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76656" y="969264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open-source AI coding agent built for the terminal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2697480" cy="4160520"/>
          </a:xfrm>
          <a:prstGeom prst="roundRect">
            <a:avLst>
              <a:gd name="adj" fmla="val 1695"/>
            </a:avLst>
          </a:prstGeom>
          <a:solidFill>
            <a:srgbClr val="E8EEF4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08760"/>
            <a:ext cx="2697480" cy="82296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801368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Terminal-native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2743200"/>
            <a:ext cx="2295144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as a fast TUI right in your shell. Also drives an IDE extension, a web UI, and a headless server / SDK.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83280" y="1508760"/>
            <a:ext cx="2697480" cy="4160520"/>
          </a:xfrm>
          <a:prstGeom prst="roundRect">
            <a:avLst>
              <a:gd name="adj" fmla="val 1695"/>
            </a:avLst>
          </a:prstGeom>
          <a:solidFill>
            <a:srgbClr val="E8EEF4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83280" y="1508760"/>
            <a:ext cx="2697480" cy="82296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11" name="Text 9"/>
          <p:cNvSpPr/>
          <p:nvPr/>
        </p:nvSpPr>
        <p:spPr>
          <a:xfrm>
            <a:off x="3566160" y="1801368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Model-agnostic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84448" y="2743200"/>
            <a:ext cx="2295144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tied to any one vendor. Use Anthropic, OpenAI, local models, or any OpenAI-compatible endpoint — like e-INFRA.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09360" y="1508760"/>
            <a:ext cx="2697480" cy="4160520"/>
          </a:xfrm>
          <a:prstGeom prst="roundRect">
            <a:avLst>
              <a:gd name="adj" fmla="val 1695"/>
            </a:avLst>
          </a:prstGeom>
          <a:solidFill>
            <a:srgbClr val="E8EEF4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508760"/>
            <a:ext cx="2697480" cy="82296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0" y="1801368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source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10528" y="2743200"/>
            <a:ext cx="2295144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open, Apache-2.0. A client/server architecture means the same engine powers the TUI, IDE, and automation.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235440" y="1508760"/>
            <a:ext cx="2697480" cy="4160520"/>
          </a:xfrm>
          <a:prstGeom prst="roundRect">
            <a:avLst>
              <a:gd name="adj" fmla="val 1695"/>
            </a:avLst>
          </a:prstGeom>
          <a:solidFill>
            <a:srgbClr val="E8EEF4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235440" y="1508760"/>
            <a:ext cx="2697480" cy="82296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19" name="Text 17"/>
          <p:cNvSpPr/>
          <p:nvPr/>
        </p:nvSpPr>
        <p:spPr>
          <a:xfrm>
            <a:off x="9418320" y="1801368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Extensible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436608" y="2743200"/>
            <a:ext cx="2295144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MCP tools, custom agents and subagents, skills, commands, LSP servers, and plugins — all via simple config.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870448"/>
            <a:ext cx="11274552" cy="45720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587044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agent, many surfaces — and you stay in control of the model, the tools, and the permissions.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647395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EBE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— AI coding agents in your terminal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0332720" y="6473952"/>
            <a:ext cx="13990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EBE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09728" cy="47548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Install &amp; First Run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76656" y="969264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zero to a running agent in your project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858000" cy="4160520"/>
          </a:xfrm>
          <a:prstGeom prst="roundRect">
            <a:avLst>
              <a:gd name="adj" fmla="val 1319"/>
            </a:avLst>
          </a:prstGeom>
          <a:solidFill>
            <a:srgbClr val="0E2138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664208"/>
            <a:ext cx="6528816" cy="3941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(pick one)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-fsSL https://opencode.ai/install | bash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 i -g opencode-ai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install sst/tap/opencode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Launch in your project directory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my-project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opencode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Inside the TUI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/connect       # add a model provider + API key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/models        # pick the active model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/agent         # switch agent  (or press Tab)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@explore find the auth code   # call a subagent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543800" y="1554480"/>
            <a:ext cx="4187952" cy="4160520"/>
          </a:xfrm>
          <a:prstGeom prst="roundRect">
            <a:avLst>
              <a:gd name="adj" fmla="val 1099"/>
            </a:avLst>
          </a:prstGeom>
          <a:solidFill>
            <a:srgbClr val="E8EEF4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0" y="17830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Handy keys &amp; commands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772400" y="2286000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0B1F3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0" y="2286000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2A6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144000" y="228600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primary agents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0" y="2816352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0B1F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0" y="2816352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2A6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@name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144000" y="2816352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Mention a subagent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0" y="3346704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0B1F3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0" y="3346704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2A6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/connect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144000" y="3346704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provider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772400" y="3877056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0B1F3A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0" y="3877056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2A6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/models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144000" y="3877056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model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772400" y="4407408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0B1F3A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0" y="4407408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2A6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/share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144000" y="4407408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a session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772400" y="4937760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0B1F3A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0" y="4937760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2A6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9144000" y="493776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 the agent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647395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EBE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— AI coding agents in your terminal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0332720" y="6473952"/>
            <a:ext cx="13990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EBE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09728" cy="47548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e-INFRA Models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76656" y="969264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e-INFRA CZ provider to ~/.config/opencode/opencode.json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7269480" cy="4224528"/>
          </a:xfrm>
          <a:prstGeom prst="roundRect">
            <a:avLst>
              <a:gd name="adj" fmla="val 1299"/>
            </a:avLst>
          </a:prstGeom>
          <a:solidFill>
            <a:srgbClr val="0E2138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572768"/>
            <a:ext cx="6940296" cy="400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inside  "provider": { … }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"einfra": {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"npm": "@ai-sdk/openai-compatible",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"e-INFRA CZ",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"options": {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"baseURL": "https://llm.ai.e-infra.cz/v1",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"apiKey": "{env:E_INFRA_API_TOKEN}"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"models": {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"agentic": { "name": "agentic" },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"coder": { "name": "coder" },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"command-a": { "name": "command-a" },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"deepseek-v4-pro": { "name": "deepseek-v4-pro" },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"gemma4": { "name": "gemma4" },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"glm-5.1": { "name": "glm-5.1" },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"gpt-oss-120b": { "name": "gpt-oss-120b" },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"kimi-k2.5": { "name": "kimi-k2.5" },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"kimi-k2.6": { "name": "kimi-k2.6" }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955280" y="1463040"/>
            <a:ext cx="3776472" cy="4224528"/>
          </a:xfrm>
          <a:prstGeom prst="roundRect">
            <a:avLst>
              <a:gd name="adj" fmla="val 1211"/>
            </a:avLst>
          </a:prstGeom>
          <a:solidFill>
            <a:srgbClr val="E8EEF4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83880" y="16916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Then, inside opencode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8183880" y="2240280"/>
            <a:ext cx="384048" cy="384048"/>
          </a:xfrm>
          <a:prstGeom prst="ellipse">
            <a:avLst/>
          </a:prstGeom>
          <a:solidFill>
            <a:srgbClr val="F2A65A"/>
          </a:solidFill>
          <a:ln/>
        </p:spPr>
      </p:sp>
      <p:sp>
        <p:nvSpPr>
          <p:cNvPr id="10" name="Text 8"/>
          <p:cNvSpPr/>
          <p:nvPr/>
        </p:nvSpPr>
        <p:spPr>
          <a:xfrm>
            <a:off x="8183880" y="2240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686800" y="2185416"/>
            <a:ext cx="2880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/connect → pick e-INFRA CZ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83880" y="3017520"/>
            <a:ext cx="384048" cy="384048"/>
          </a:xfrm>
          <a:prstGeom prst="ellipse">
            <a:avLst/>
          </a:prstGeom>
          <a:solidFill>
            <a:srgbClr val="F2A65A"/>
          </a:solidFill>
          <a:ln/>
        </p:spPr>
      </p:sp>
      <p:sp>
        <p:nvSpPr>
          <p:cNvPr id="13" name="Text 11"/>
          <p:cNvSpPr/>
          <p:nvPr/>
        </p:nvSpPr>
        <p:spPr>
          <a:xfrm>
            <a:off x="8183880" y="3017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0" y="2962656"/>
            <a:ext cx="2880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your API key from chat.ai.e-infra.cz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83880" y="3794760"/>
            <a:ext cx="384048" cy="384048"/>
          </a:xfrm>
          <a:prstGeom prst="ellipse">
            <a:avLst/>
          </a:prstGeom>
          <a:solidFill>
            <a:srgbClr val="F2A65A"/>
          </a:solidFill>
          <a:ln/>
        </p:spPr>
      </p:sp>
      <p:sp>
        <p:nvSpPr>
          <p:cNvPr id="16" name="Text 14"/>
          <p:cNvSpPr/>
          <p:nvPr/>
        </p:nvSpPr>
        <p:spPr>
          <a:xfrm>
            <a:off x="8183880" y="3794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0" y="3739896"/>
            <a:ext cx="2880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/models → pick a model (e.g. coder)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83880" y="4709160"/>
            <a:ext cx="3337560" cy="0"/>
          </a:xfrm>
          <a:prstGeom prst="line">
            <a:avLst/>
          </a:prstGeom>
          <a:noFill/>
          <a:ln w="12700">
            <a:solidFill>
              <a:srgbClr val="C9D4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83880" y="4828032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Aliases: 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C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· coder · mini · thinker track current models — no need to edit config when they change.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647395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EBE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— AI coding agents in your terminal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0332720" y="6473952"/>
            <a:ext cx="13990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EBE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09728" cy="47548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MCP Servers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76656" y="969264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agent external tools — local processes or remote services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5486400" cy="3703320"/>
          </a:xfrm>
          <a:prstGeom prst="roundRect">
            <a:avLst>
              <a:gd name="adj" fmla="val 1235"/>
            </a:avLst>
          </a:prstGeom>
          <a:solidFill>
            <a:srgbClr val="E8EEF4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08760"/>
            <a:ext cx="5486400" cy="8229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6916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 (stdio)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58368" y="20574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C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command OpenCode spawns and talks to over stdio.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8368" y="2468880"/>
            <a:ext cx="5074920" cy="2560320"/>
          </a:xfrm>
          <a:prstGeom prst="roundRect">
            <a:avLst>
              <a:gd name="adj" fmla="val 2143"/>
            </a:avLst>
          </a:prstGeom>
          <a:solidFill>
            <a:srgbClr val="0E2138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578608"/>
            <a:ext cx="4745736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"mcp": {</a:t>
            </a:r>
            <a:endParaRPr lang="en-US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"my-tools": {</a:t>
            </a:r>
            <a:endParaRPr lang="en-US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"type": "local",</a:t>
            </a:r>
            <a:endParaRPr lang="en-US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"command": ["npx","-y","my-mcp"],</a:t>
            </a:r>
            <a:endParaRPr lang="en-US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"environment": {</a:t>
            </a:r>
            <a:endParaRPr lang="en-US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"API_KEY": "{env:API_KEY}"</a:t>
            </a:r>
            <a:endParaRPr lang="en-US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"enabled": true</a:t>
            </a:r>
            <a:endParaRPr lang="en-US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45352" y="1508760"/>
            <a:ext cx="5486400" cy="3703320"/>
          </a:xfrm>
          <a:prstGeom prst="roundRect">
            <a:avLst>
              <a:gd name="adj" fmla="val 1235"/>
            </a:avLst>
          </a:prstGeom>
          <a:solidFill>
            <a:srgbClr val="E8EEF4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45352" y="1508760"/>
            <a:ext cx="5486400" cy="82296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16916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Remote  (HTTP / SSE)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46520" y="20574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C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hosted MCP endpoint, with headers or OAuth auth.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46520" y="2468880"/>
            <a:ext cx="5074920" cy="2560320"/>
          </a:xfrm>
          <a:prstGeom prst="roundRect">
            <a:avLst>
              <a:gd name="adj" fmla="val 2143"/>
            </a:avLst>
          </a:prstGeom>
          <a:solidFill>
            <a:srgbClr val="0E2138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11112" y="2578608"/>
            <a:ext cx="4745736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"mcp": {</a:t>
            </a:r>
            <a:endParaRPr lang="en-US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"context7": {</a:t>
            </a:r>
            <a:endParaRPr lang="en-US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"type": "remote",</a:t>
            </a:r>
            <a:endParaRPr lang="en-US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"url": "https://mcp.context7.com/mcp",</a:t>
            </a:r>
            <a:endParaRPr lang="en-US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"headers": {</a:t>
            </a:r>
            <a:endParaRPr lang="en-US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"API_KEY": "{env:CONTEXT7_KEY}"</a:t>
            </a:r>
            <a:endParaRPr lang="en-US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5394960"/>
            <a:ext cx="11274552" cy="45720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53949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</a:t>
            </a:r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tools are auto-discovered and added to the model's context — enable only what you need, big servers eat tokens fast.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647395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EBE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— AI coding agents in your terminal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332720" y="6473952"/>
            <a:ext cx="13990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EBE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09728" cy="47548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Create a New Agent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76656" y="969264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assistants with their own model, prompt, and permissions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4023360" cy="4206240"/>
          </a:xfrm>
          <a:prstGeom prst="roundRect">
            <a:avLst>
              <a:gd name="adj" fmla="val 1136"/>
            </a:avLst>
          </a:prstGeom>
          <a:solidFill>
            <a:srgbClr val="E8EEF4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7190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flavors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8368" y="2121408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main agents you drive directly (Build, Plan). Switch with Tab.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58368" y="2907792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</a:t>
            </a:r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specialists invoked by other agents or via @mention.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3611880"/>
            <a:ext cx="3611880" cy="0"/>
          </a:xfrm>
          <a:prstGeom prst="line">
            <a:avLst/>
          </a:prstGeom>
          <a:noFill/>
          <a:ln w="12700">
            <a:solidFill>
              <a:srgbClr val="C9D4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37307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one interactively: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58368" y="4069080"/>
            <a:ext cx="3611880" cy="640080"/>
          </a:xfrm>
          <a:prstGeom prst="roundRect">
            <a:avLst>
              <a:gd name="adj" fmla="val 8571"/>
            </a:avLst>
          </a:prstGeom>
          <a:solidFill>
            <a:srgbClr val="0E2138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178808"/>
            <a:ext cx="3282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opencode agent create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484632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3C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Options: description · mode · model · prompt · permission · temperature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663440" y="155448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.opencode/agents/reviewer.md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874520"/>
            <a:ext cx="7068312" cy="3840480"/>
          </a:xfrm>
          <a:prstGeom prst="roundRect">
            <a:avLst>
              <a:gd name="adj" fmla="val 1429"/>
            </a:avLst>
          </a:prstGeom>
          <a:solidFill>
            <a:srgbClr val="0E2138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8032" y="1984248"/>
            <a:ext cx="6739128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Reviews code for bugs &amp; security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mode: subagent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einfra/qwen3-coder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temperature: 0.1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permission: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edit: deny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bash: ask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are a senior code reviewer. Focus on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correctness, security, and clear feedback.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not modify files — suggest changes only.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647395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EBE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— AI coding agents in your terminal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0332720" y="6473952"/>
            <a:ext cx="13990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EBE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09728" cy="47548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Subagents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76656" y="969264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 specialized work into isolated child sessions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56232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Primary agent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/ Plan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70632" y="20574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383280" y="160020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1856232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@mention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 Task tool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474720" y="23774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96712" y="20574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09360" y="160020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856232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Subagent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00800" y="23774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 session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622792" y="20574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235440" y="160020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0B1F3A"/>
          </a:solidFill>
          <a:ln/>
        </p:spPr>
      </p:sp>
      <p:sp>
        <p:nvSpPr>
          <p:cNvPr id="18" name="Text 16"/>
          <p:cNvSpPr/>
          <p:nvPr/>
        </p:nvSpPr>
        <p:spPr>
          <a:xfrm>
            <a:off x="9326880" y="1856232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9326880" y="23774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246120"/>
            <a:ext cx="5394960" cy="2423160"/>
          </a:xfrm>
          <a:prstGeom prst="roundRect">
            <a:avLst>
              <a:gd name="adj" fmla="val 1887"/>
            </a:avLst>
          </a:prstGeom>
          <a:solidFill>
            <a:srgbClr val="E8EEF4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34290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Built-in subagents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58368" y="3822192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828800" y="382219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research &amp; tasks, full tools — run several in parallel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8368" y="438912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explore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828800" y="438912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read-only codebase search — never edits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58368" y="4956048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scout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828800" y="495604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research of external docs &amp; dependencies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26480" y="3246120"/>
            <a:ext cx="5605272" cy="2423160"/>
          </a:xfrm>
          <a:prstGeom prst="roundRect">
            <a:avLst>
              <a:gd name="adj" fmla="val 1887"/>
            </a:avLst>
          </a:prstGeom>
          <a:solidFill>
            <a:srgbClr val="E8EEF4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26480" y="3246120"/>
            <a:ext cx="5605272" cy="82296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30" name="Text 28"/>
          <p:cNvSpPr/>
          <p:nvPr/>
        </p:nvSpPr>
        <p:spPr>
          <a:xfrm>
            <a:off x="6327648" y="3456432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use them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327648" y="384048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Parallelism — </a:t>
            </a:r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many units of work at once.
</a:t>
            </a:r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context — </a:t>
            </a:r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child gets its own session, keeping the main thread focused.
</a:t>
            </a:r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 — </a:t>
            </a:r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tools/permissions per subagent; gate who can call whom with permission.task.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647395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EBE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— AI coding agents in your terminal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0332720" y="6473952"/>
            <a:ext cx="13990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EBE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09728" cy="47548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Sandboxing &amp; Permissions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76656" y="969264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what runs automatically, what asks first, and what's blocked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611880" cy="1691640"/>
          </a:xfrm>
          <a:prstGeom prst="roundRect">
            <a:avLst>
              <a:gd name="adj" fmla="val 3243"/>
            </a:avLst>
          </a:prstGeom>
          <a:solidFill>
            <a:srgbClr val="E8EEF4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54480"/>
            <a:ext cx="109728" cy="169164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55648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E8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"allow"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31520" y="2304288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without approval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65176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C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Trusted, reversible actions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70832" y="1554480"/>
            <a:ext cx="3611880" cy="1691640"/>
          </a:xfrm>
          <a:prstGeom prst="roundRect">
            <a:avLst>
              <a:gd name="adj" fmla="val 3243"/>
            </a:avLst>
          </a:prstGeom>
          <a:solidFill>
            <a:srgbClr val="E8EEF4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70832" y="1554480"/>
            <a:ext cx="109728" cy="1691640"/>
          </a:xfrm>
          <a:prstGeom prst="rect">
            <a:avLst/>
          </a:prstGeom>
          <a:solidFill>
            <a:srgbClr val="E0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4645152" y="1755648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0A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"ask"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645152" y="2304288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before running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45152" y="265176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C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 default for risky tools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284464" y="1554480"/>
            <a:ext cx="3611880" cy="1691640"/>
          </a:xfrm>
          <a:prstGeom prst="roundRect">
            <a:avLst>
              <a:gd name="adj" fmla="val 3243"/>
            </a:avLst>
          </a:prstGeom>
          <a:solidFill>
            <a:srgbClr val="E8EEF4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84464" y="1554480"/>
            <a:ext cx="109728" cy="1691640"/>
          </a:xfrm>
          <a:prstGeom prst="rect">
            <a:avLst/>
          </a:prstGeom>
          <a:solidFill>
            <a:srgbClr val="C44536"/>
          </a:solidFill>
          <a:ln/>
        </p:spPr>
      </p:sp>
      <p:sp>
        <p:nvSpPr>
          <p:cNvPr id="17" name="Text 15"/>
          <p:cNvSpPr/>
          <p:nvPr/>
        </p:nvSpPr>
        <p:spPr>
          <a:xfrm>
            <a:off x="8558784" y="1755648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C445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"deny"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558784" y="2304288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 entirely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558784" y="265176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C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the agent must never use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3456432"/>
            <a:ext cx="6858000" cy="2240280"/>
          </a:xfrm>
          <a:prstGeom prst="roundRect">
            <a:avLst>
              <a:gd name="adj" fmla="val 2449"/>
            </a:avLst>
          </a:prstGeom>
          <a:solidFill>
            <a:srgbClr val="0E2138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" y="3566160"/>
            <a:ext cx="6528816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"permission": {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"*": "ask",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"edit": "allow",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"bash": {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"*": "ask",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"git *": "allow",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"rm *": "deny"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543800" y="3456432"/>
            <a:ext cx="4187952" cy="2240280"/>
          </a:xfrm>
          <a:prstGeom prst="roundRect">
            <a:avLst>
              <a:gd name="adj" fmla="val 2041"/>
            </a:avLst>
          </a:prstGeom>
          <a:solidFill>
            <a:srgbClr val="E8EEF4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44968" y="3621024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Built-in guardrails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744968" y="402336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936992" y="402336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files are denied by default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744968" y="4425696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936992" y="4425696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Leaving the project dir → external_directory asks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744968" y="4828032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936992" y="4828032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identical calls trip the doom_loop guard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744968" y="5230368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936992" y="5230368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any rule per agent (e.g. Plan = read-only)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647395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EBE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— AI coding agents in your terminal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0332720" y="6473952"/>
            <a:ext cx="13990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EBE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09728" cy="47548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 Research Team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76656" y="969264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whole computational-research lab, built as OpenCode agents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1274552" cy="841248"/>
          </a:xfrm>
          <a:prstGeom prst="roundRect">
            <a:avLst>
              <a:gd name="adj" fmla="val 6522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7276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2A6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lab-pi</a:t>
            </a:r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Primary orchestrator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1901952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FD0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einfra/agentic</a:t>
            </a:r>
            <a:pPr algn="l" indent="0" marL="0">
              <a:buNone/>
            </a:pPr>
            <a:r>
              <a:rPr lang="en-US" sz="120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scopes the question, delegates to specialists, requires a critic verdict, and records every decision. Never fills gaps itself.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487168"/>
            <a:ext cx="5486400" cy="2788920"/>
          </a:xfrm>
          <a:prstGeom prst="roundRect">
            <a:avLst>
              <a:gd name="adj" fmla="val 1639"/>
            </a:avLst>
          </a:prstGeom>
          <a:solidFill>
            <a:srgbClr val="E8EEF4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487168"/>
            <a:ext cx="5486400" cy="8229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5176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Specialists — the doers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58368" y="3044952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548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research-specialist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931920" y="3044952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kimi-k2.6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58368" y="3351276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548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methods-reviewer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931920" y="3351276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kimi-k2.6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58368" y="3657600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548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programmer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931920" y="365760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qwen3-coder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58368" y="3963924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548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data-analyst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931920" y="3963924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kimi-k2.6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58368" y="4270248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548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hpc-operator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931920" y="427024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glm-5.1 · MCP only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58368" y="4576572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548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reproducibility-officer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931920" y="4576572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kimi-k2.6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58368" y="4882896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548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scientific-writer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931920" y="4882896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kimi-k2.6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245352" y="2487168"/>
            <a:ext cx="5486400" cy="2788920"/>
          </a:xfrm>
          <a:prstGeom prst="roundRect">
            <a:avLst>
              <a:gd name="adj" fmla="val 1639"/>
            </a:avLst>
          </a:prstGeom>
          <a:solidFill>
            <a:srgbClr val="E8EEF4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45352" y="2487168"/>
            <a:ext cx="5486400" cy="82296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27" name="Text 25"/>
          <p:cNvSpPr/>
          <p:nvPr/>
        </p:nvSpPr>
        <p:spPr>
          <a:xfrm>
            <a:off x="6446520" y="265176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Critics — the gate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6446520" y="3044952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55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research-critic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784080" y="3044952"/>
            <a:ext cx="1783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thinker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446520" y="3351276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55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methods-critic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9784080" y="3351276"/>
            <a:ext cx="1783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thinker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46520" y="3657600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55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code-critic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9784080" y="3657600"/>
            <a:ext cx="1783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thinker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446520" y="3963924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55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hpc-safety-critic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784080" y="3963924"/>
            <a:ext cx="1783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thinker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446520" y="4270248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55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reproducibility-critic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9784080" y="4270248"/>
            <a:ext cx="1783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A8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thinker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446520" y="4645152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C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writes an explicit </a:t>
            </a:r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/ revise / reject</a:t>
            </a:r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C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verdict before the PI accepts.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57200" y="5440680"/>
            <a:ext cx="11274552" cy="50292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440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ties the whole talk together: e-INFRA models · subagents via the Task tool · Chimera HPC via MCP · least-privilege permissions per role.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647395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EBE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— AI coding agents in your terminal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10332720" y="6473952"/>
            <a:ext cx="13990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EBE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09728" cy="47548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Runs — The Critique Gate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76656" y="969264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result is accepted until an independent critic signs off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331720" cy="1234440"/>
          </a:xfrm>
          <a:prstGeom prst="roundRect">
            <a:avLst>
              <a:gd name="adj" fmla="val 4444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55648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lab-pi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2212848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delegates 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task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770632" y="193852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383280" y="1554480"/>
            <a:ext cx="2331720" cy="1234440"/>
          </a:xfrm>
          <a:prstGeom prst="roundRect">
            <a:avLst>
              <a:gd name="adj" fmla="val 4444"/>
            </a:avLst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1755648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Specialist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74720" y="2212848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tasks/&lt;id&gt;/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96712" y="193852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09360" y="1554480"/>
            <a:ext cx="2331720" cy="1234440"/>
          </a:xfrm>
          <a:prstGeom prst="roundRect">
            <a:avLst>
              <a:gd name="adj" fmla="val 4444"/>
            </a:avLst>
          </a:prstGeom>
          <a:solidFill>
            <a:srgbClr val="F2A65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755648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Critic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00800" y="2212848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reviews/&lt;id&gt;/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622792" y="193852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235440" y="1554480"/>
            <a:ext cx="2331720" cy="1234440"/>
          </a:xfrm>
          <a:prstGeom prst="roundRect">
            <a:avLst>
              <a:gd name="adj" fmla="val 4444"/>
            </a:avLst>
          </a:prstGeom>
          <a:solidFill>
            <a:srgbClr val="0B1F3A"/>
          </a:solidFill>
          <a:ln/>
        </p:spPr>
      </p:sp>
      <p:sp>
        <p:nvSpPr>
          <p:cNvPr id="18" name="Text 16"/>
          <p:cNvSpPr/>
          <p:nvPr/>
        </p:nvSpPr>
        <p:spPr>
          <a:xfrm>
            <a:off x="9326880" y="1755648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lab-pi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326880" y="2212848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in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lab_notebook.md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383280" y="2889504"/>
            <a:ext cx="8321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B55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↩  revise → back to the specialist  (bounded to 2 rounds, then record the blocker)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3310128"/>
            <a:ext cx="3657600" cy="868680"/>
          </a:xfrm>
          <a:prstGeom prst="roundRect">
            <a:avLst>
              <a:gd name="adj" fmla="val 6316"/>
            </a:avLst>
          </a:prstGeom>
          <a:solidFill>
            <a:srgbClr val="E8EEF4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557016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2E8B57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557016"/>
            <a:ext cx="1143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accept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920240" y="3474720"/>
            <a:ext cx="2057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records it and closes the task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70832" y="3310128"/>
            <a:ext cx="3657600" cy="868680"/>
          </a:xfrm>
          <a:prstGeom prst="roundRect">
            <a:avLst>
              <a:gd name="adj" fmla="val 6316"/>
            </a:avLst>
          </a:prstGeom>
          <a:solidFill>
            <a:srgbClr val="E8EEF4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53712" y="3557016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D98A00"/>
          </a:solidFill>
          <a:ln/>
        </p:spPr>
      </p:sp>
      <p:sp>
        <p:nvSpPr>
          <p:cNvPr id="27" name="Text 25"/>
          <p:cNvSpPr/>
          <p:nvPr/>
        </p:nvSpPr>
        <p:spPr>
          <a:xfrm>
            <a:off x="4553712" y="3557016"/>
            <a:ext cx="1143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revise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833872" y="3474720"/>
            <a:ext cx="2057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fixes sent back to the specialist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84464" y="3310128"/>
            <a:ext cx="3657600" cy="868680"/>
          </a:xfrm>
          <a:prstGeom prst="roundRect">
            <a:avLst>
              <a:gd name="adj" fmla="val 6316"/>
            </a:avLst>
          </a:prstGeom>
          <a:solidFill>
            <a:srgbClr val="E8EEF4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67344" y="3557016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C44536"/>
          </a:solidFill>
          <a:ln/>
        </p:spPr>
      </p:sp>
      <p:sp>
        <p:nvSpPr>
          <p:cNvPr id="31" name="Text 29"/>
          <p:cNvSpPr/>
          <p:nvPr/>
        </p:nvSpPr>
        <p:spPr>
          <a:xfrm>
            <a:off x="8467344" y="3557016"/>
            <a:ext cx="1143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reject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9747504" y="3474720"/>
            <a:ext cx="2057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that path, or narrow the task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4407408"/>
            <a:ext cx="5486400" cy="1783080"/>
          </a:xfrm>
          <a:prstGeom prst="roundRect">
            <a:avLst>
              <a:gd name="adj" fmla="val 3077"/>
            </a:avLst>
          </a:prstGeom>
          <a:solidFill>
            <a:srgbClr val="0E2138"/>
          </a:solidFill>
          <a:ln w="12700">
            <a:solidFill>
              <a:srgbClr val="1C3A5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1792" y="4517136"/>
            <a:ext cx="5157216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 the lab from OpenCode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/lab-research  &lt;question&gt;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/lab-start     &lt;task&gt;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/lab-delegate  &lt;id + role&gt;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/lab-review    &lt;id&gt;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/lab-close     &lt;id&gt;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45352" y="4407408"/>
            <a:ext cx="5486400" cy="1783080"/>
          </a:xfrm>
          <a:prstGeom prst="roundRect">
            <a:avLst>
              <a:gd name="adj" fmla="val 2564"/>
            </a:avLst>
          </a:prstGeom>
          <a:solidFill>
            <a:srgbClr val="E8EEF4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46520" y="45354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Guardrails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6446520" y="4882896"/>
            <a:ext cx="18288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629400" y="4882896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lab_notebook.md is append-only — corrections are appended, never rewritten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446520" y="5207508"/>
            <a:ext cx="18288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629400" y="5207508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inventing data, papers, paths, job IDs, or outputs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446520" y="5532120"/>
            <a:ext cx="18288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29400" y="5532120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hpc-operator has bash: deny — Chimera only via MCP tools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446520" y="5856732"/>
            <a:ext cx="18288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629400" y="5856732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research-to-hpc-loop — 5 tasks, all critic-accepted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6" name="Text 44"/>
          <p:cNvSpPr/>
          <p:nvPr/>
        </p:nvSpPr>
        <p:spPr>
          <a:xfrm>
            <a:off x="457200" y="647395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EBE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— AI coding agents in your terminal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10332720" y="6473952"/>
            <a:ext cx="13990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EBE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146304"/>
          </a:xfrm>
          <a:prstGeom prst="ellipse">
            <a:avLst/>
          </a:prstGeom>
          <a:solidFill>
            <a:srgbClr val="F2A65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" y="502920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" y="502920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16736" y="502920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72768" y="502920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68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Takeaways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5586984" cy="1920240"/>
          </a:xfrm>
          <a:prstGeom prst="roundRect">
            <a:avLst>
              <a:gd name="adj" fmla="val 2381"/>
            </a:avLst>
          </a:prstGeom>
          <a:solidFill>
            <a:srgbClr val="11355C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828800"/>
            <a:ext cx="5586984" cy="82296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029968"/>
            <a:ext cx="50383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terminal, any model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2542032"/>
            <a:ext cx="508406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TUI coding agent</a:t>
            </a:r>
            <a:endParaRPr lang="en-US" sz="1250" dirty="0"/>
          </a:p>
          <a:p>
            <a:pPr algn="l" marL="177800" indent="-1778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e-INFRA via an OpenAI-compatible provider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44768" y="1828800"/>
            <a:ext cx="5586984" cy="1920240"/>
          </a:xfrm>
          <a:prstGeom prst="roundRect">
            <a:avLst>
              <a:gd name="adj" fmla="val 2381"/>
            </a:avLst>
          </a:prstGeom>
          <a:solidFill>
            <a:srgbClr val="11355C"/>
          </a:solidFill>
          <a:ln/>
        </p:spPr>
      </p:sp>
      <p:sp>
        <p:nvSpPr>
          <p:cNvPr id="13" name="Shape 11"/>
          <p:cNvSpPr/>
          <p:nvPr/>
        </p:nvSpPr>
        <p:spPr>
          <a:xfrm>
            <a:off x="6144768" y="1828800"/>
            <a:ext cx="5586984" cy="8229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419088" y="2029968"/>
            <a:ext cx="50383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Extend with MCP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19088" y="2542032"/>
            <a:ext cx="508406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(stdio) and remote (HTTP) tools</a:t>
            </a:r>
            <a:endParaRPr lang="en-US" sz="1250" dirty="0"/>
          </a:p>
          <a:p>
            <a:pPr algn="l" marL="177800" indent="-1778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Auto-added to context — enable only what you need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5586984" cy="1920240"/>
          </a:xfrm>
          <a:prstGeom prst="roundRect">
            <a:avLst>
              <a:gd name="adj" fmla="val 2381"/>
            </a:avLst>
          </a:prstGeom>
          <a:solidFill>
            <a:srgbClr val="11355C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3977640"/>
            <a:ext cx="5586984" cy="82296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178808"/>
            <a:ext cx="50383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Agents &amp; subagents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31520" y="4690872"/>
            <a:ext cx="508406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agents you drive directly</a:t>
            </a:r>
            <a:endParaRPr lang="en-US" sz="1250" dirty="0"/>
          </a:p>
          <a:p>
            <a:pPr algn="l" marL="177800" indent="-1778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Subagents for parallel, scoped work</a:t>
            </a:r>
            <a:endParaRPr lang="en-US" sz="1250" dirty="0"/>
          </a:p>
          <a:p>
            <a:pPr algn="l" marL="177800" indent="-1778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or JSON, or agent create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44768" y="3977640"/>
            <a:ext cx="5586984" cy="1920240"/>
          </a:xfrm>
          <a:prstGeom prst="roundRect">
            <a:avLst>
              <a:gd name="adj" fmla="val 2381"/>
            </a:avLst>
          </a:prstGeom>
          <a:solidFill>
            <a:srgbClr val="11355C"/>
          </a:solidFill>
          <a:ln/>
        </p:spPr>
      </p:sp>
      <p:sp>
        <p:nvSpPr>
          <p:cNvPr id="21" name="Shape 19"/>
          <p:cNvSpPr/>
          <p:nvPr/>
        </p:nvSpPr>
        <p:spPr>
          <a:xfrm>
            <a:off x="6144768" y="3977640"/>
            <a:ext cx="5586984" cy="82296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22" name="Text 20"/>
          <p:cNvSpPr/>
          <p:nvPr/>
        </p:nvSpPr>
        <p:spPr>
          <a:xfrm>
            <a:off x="6419088" y="4178808"/>
            <a:ext cx="50383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Stay in control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419088" y="4690872"/>
            <a:ext cx="508406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/ ask / deny per tool &amp; command</a:t>
            </a:r>
            <a:endParaRPr lang="en-US" sz="1250" dirty="0"/>
          </a:p>
          <a:p>
            <a:pPr algn="l" marL="177800" indent="-1778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and external dirs guarded by default</a:t>
            </a:r>
            <a:endParaRPr lang="en-US" sz="1250" dirty="0"/>
          </a:p>
          <a:p>
            <a:pPr algn="l" marL="177800" indent="-1778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permissions per agent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6053328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pitch:  </a:t>
            </a:r>
            <a:pPr algn="l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shell, your models, your tools — with permissions you set.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2026-06-16T11:48:44Z</dcterms:created>
  <dcterms:modified xsi:type="dcterms:W3CDTF">2026-06-16T11:48:44Z</dcterms:modified>
</cp:coreProperties>
</file>