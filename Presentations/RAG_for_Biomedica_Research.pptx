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h4bGQ9WZINXg9yuv+MArtf6XHd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7"/>
  </p:normalViewPr>
  <p:slideViewPr>
    <p:cSldViewPr snapToGrid="0">
      <p:cViewPr varScale="1">
        <p:scale>
          <a:sx n="112" d="100"/>
          <a:sy n="112" d="100"/>
        </p:scale>
        <p:origin x="7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1188e937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1188e9378_0_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1188e937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1188e9378_0_1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48640" y="548640"/>
            <a:ext cx="109728" cy="109728"/>
          </a:xfrm>
          <a:prstGeom prst="ellipse">
            <a:avLst/>
          </a:prstGeom>
          <a:solidFill>
            <a:srgbClr val="F2A65A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822960" y="548640"/>
            <a:ext cx="109728" cy="109728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097280" y="548640"/>
            <a:ext cx="109728" cy="109728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371600" y="548640"/>
            <a:ext cx="109728" cy="109728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645920" y="548640"/>
            <a:ext cx="109728" cy="109728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2011680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lang="en-US" sz="4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Retrieval-Augmented Generation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2834640"/>
            <a:ext cx="108813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4800"/>
              <a:buFont typeface="Georgia"/>
              <a:buNone/>
            </a:pPr>
            <a:r>
              <a:rPr lang="en-US" sz="4800" b="1">
                <a:solidFill>
                  <a:srgbClr val="F2A65A"/>
                </a:solidFill>
                <a:latin typeface="Georgia"/>
                <a:ea typeface="Georgia"/>
                <a:cs typeface="Georgia"/>
                <a:sym typeface="Georgia"/>
              </a:rPr>
              <a:t>RAG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37033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2200"/>
              <a:buFont typeface="Georgia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4434840"/>
            <a:ext cx="1371600" cy="45720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400"/>
              <a:buFont typeface="Calibri"/>
              <a:buNone/>
            </a:pPr>
            <a:r>
              <a:rPr lang="en-US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Sára Veselá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0080" y="6035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13.5. 2026  •  workshop: agentic systems in biomedicine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Georgia"/>
              <a:buNone/>
            </a:pPr>
            <a:r>
              <a:rPr lang="en-US" sz="3000" b="1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Outline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Where we're going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325880"/>
            <a:ext cx="457200" cy="54864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11355C"/>
          </a:solidFill>
          <a:ln w="127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371600" y="16459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Why do we need RAG?</a:t>
            </a:r>
            <a:br>
              <a:rPr lang="en-US" sz="1800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i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Searching for relevant information in our knowledge base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2404872"/>
            <a:ext cx="548640" cy="548640"/>
          </a:xfrm>
          <a:prstGeom prst="ellipse">
            <a:avLst/>
          </a:prstGeom>
          <a:solidFill>
            <a:srgbClr val="11355C"/>
          </a:solidFill>
          <a:ln w="127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80" y="240487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371600" y="235915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RAG pipeline</a:t>
            </a:r>
            <a:br>
              <a:rPr lang="en-US" sz="1800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i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From documents to embeddings and retrieval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3118104"/>
            <a:ext cx="548640" cy="548640"/>
          </a:xfrm>
          <a:prstGeom prst="ellipse">
            <a:avLst/>
          </a:prstGeom>
          <a:solidFill>
            <a:srgbClr val="11355C"/>
          </a:solidFill>
          <a:ln w="127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311810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371600" y="3072384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br>
              <a:rPr lang="en-US" sz="1800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i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Chunking, overlaps and more…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0080" y="3831336"/>
            <a:ext cx="548640" cy="548640"/>
          </a:xfrm>
          <a:prstGeom prst="ellipse">
            <a:avLst/>
          </a:prstGeom>
          <a:solidFill>
            <a:srgbClr val="11355C"/>
          </a:solidFill>
          <a:ln w="127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" y="383133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371600" y="3785616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RAG in agentic systems</a:t>
            </a:r>
            <a:br>
              <a:rPr lang="en-US" sz="1800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i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More than just a retrieval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40080" y="4544568"/>
            <a:ext cx="548640" cy="548640"/>
          </a:xfrm>
          <a:prstGeom prst="ellipse">
            <a:avLst/>
          </a:prstGeom>
          <a:solidFill>
            <a:srgbClr val="11355C"/>
          </a:solidFill>
          <a:ln w="127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0080" y="45445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lang="en-US" sz="18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371600" y="4498848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Limitations of RAG</a:t>
            </a:r>
            <a:br>
              <a:rPr lang="en-US" sz="1800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i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What questions RAG cannot answer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371600" y="5212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F3A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064240" y="655624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2 / 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1188e9378_0_1"/>
          <p:cNvSpPr/>
          <p:nvPr/>
        </p:nvSpPr>
        <p:spPr>
          <a:xfrm>
            <a:off x="0" y="6537960"/>
            <a:ext cx="12161400" cy="320100"/>
          </a:xfrm>
          <a:prstGeom prst="rect">
            <a:avLst/>
          </a:prstGeom>
          <a:solidFill>
            <a:srgbClr val="0B1F3A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e1188e9378_0_1"/>
          <p:cNvSpPr/>
          <p:nvPr/>
        </p:nvSpPr>
        <p:spPr>
          <a:xfrm>
            <a:off x="11064240" y="6556248"/>
            <a:ext cx="73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3 / 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e1188e9378_0_1"/>
          <p:cNvSpPr/>
          <p:nvPr/>
        </p:nvSpPr>
        <p:spPr>
          <a:xfrm>
            <a:off x="365760" y="655624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e1188e9378_0_1"/>
          <p:cNvSpPr/>
          <p:nvPr/>
        </p:nvSpPr>
        <p:spPr>
          <a:xfrm>
            <a:off x="457200" y="1325880"/>
            <a:ext cx="457200" cy="54900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e1188e9378_0_1"/>
          <p:cNvSpPr/>
          <p:nvPr/>
        </p:nvSpPr>
        <p:spPr>
          <a:xfrm>
            <a:off x="457200" y="320050"/>
            <a:ext cx="7215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Georgia"/>
              <a:buNone/>
            </a:pPr>
            <a:r>
              <a:rPr lang="en-US" sz="3000" b="1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Why do we need RAG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e1188e9378_0_1"/>
          <p:cNvSpPr/>
          <p:nvPr/>
        </p:nvSpPr>
        <p:spPr>
          <a:xfrm>
            <a:off x="457200" y="914400"/>
            <a:ext cx="6088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lang="en-US" sz="1300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Searching for relevant information in our knowledge base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e1188e9378_0_1"/>
          <p:cNvSpPr/>
          <p:nvPr/>
        </p:nvSpPr>
        <p:spPr>
          <a:xfrm>
            <a:off x="688200" y="1843900"/>
            <a:ext cx="7148400" cy="42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55C"/>
              </a:buClr>
              <a:buSzPts val="1400"/>
              <a:buFont typeface="Times New Roman"/>
              <a:buChar char="●"/>
            </a:pPr>
            <a:r>
              <a:rPr lang="en-US" sz="1800" b="1">
                <a:solidFill>
                  <a:srgbClr val="1135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chatting over documents</a:t>
            </a:r>
            <a:endParaRPr sz="1800" b="1">
              <a:solidFill>
                <a:srgbClr val="1135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55C"/>
              </a:buClr>
              <a:buSzPts val="1400"/>
              <a:buFont typeface="Times New Roman"/>
              <a:buChar char="●"/>
            </a:pPr>
            <a:r>
              <a:rPr lang="en-US" sz="1800" b="1">
                <a:solidFill>
                  <a:srgbClr val="1135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+ our knowledge base = RAG</a:t>
            </a:r>
            <a:endParaRPr sz="1800" b="1">
              <a:solidFill>
                <a:srgbClr val="1135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55C"/>
              </a:buClr>
              <a:buSzPts val="1400"/>
              <a:buFont typeface="Times New Roman"/>
              <a:buChar char="●"/>
            </a:pPr>
            <a:r>
              <a:rPr lang="en-US" sz="1800" b="1">
                <a:solidFill>
                  <a:srgbClr val="1135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persistent knowledge for the LLM</a:t>
            </a:r>
            <a:endParaRPr sz="1800" b="1">
              <a:solidFill>
                <a:srgbClr val="1135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55C"/>
              </a:buClr>
              <a:buSzPts val="1400"/>
              <a:buFont typeface="Times New Roman"/>
              <a:buChar char="●"/>
            </a:pPr>
            <a:r>
              <a:rPr lang="en-US" sz="1800" b="1">
                <a:solidFill>
                  <a:srgbClr val="1135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 is not training →LLM gets relevant context</a:t>
            </a:r>
            <a:endParaRPr sz="1800" b="1">
              <a:solidFill>
                <a:srgbClr val="1135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55C"/>
              </a:buClr>
              <a:buSzPts val="1400"/>
              <a:buFont typeface="Times New Roman"/>
              <a:buChar char="●"/>
            </a:pPr>
            <a:r>
              <a:rPr lang="en-US" sz="1800" b="1">
                <a:solidFill>
                  <a:srgbClr val="1135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 is best for factual question answering over external knowledge</a:t>
            </a:r>
            <a:endParaRPr sz="1800" b="1">
              <a:solidFill>
                <a:srgbClr val="1135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55C"/>
              </a:buClr>
              <a:buSzPts val="1400"/>
              <a:buFont typeface="Times New Roman"/>
              <a:buChar char="●"/>
            </a:pPr>
            <a:r>
              <a:rPr lang="en-US" sz="1800" b="1">
                <a:solidFill>
                  <a:srgbClr val="1135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example:</a:t>
            </a:r>
            <a:endParaRPr sz="1800" b="1">
              <a:solidFill>
                <a:srgbClr val="1135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g3e1188e9378_0_1"/>
          <p:cNvSpPr/>
          <p:nvPr/>
        </p:nvSpPr>
        <p:spPr>
          <a:xfrm>
            <a:off x="8275200" y="552850"/>
            <a:ext cx="184500" cy="174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3e1188e9378_0_1"/>
          <p:cNvSpPr/>
          <p:nvPr/>
        </p:nvSpPr>
        <p:spPr>
          <a:xfrm>
            <a:off x="8217900" y="774575"/>
            <a:ext cx="299100" cy="2439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e1188e9378_0_1"/>
          <p:cNvSpPr/>
          <p:nvPr/>
        </p:nvSpPr>
        <p:spPr>
          <a:xfrm>
            <a:off x="9342000" y="216300"/>
            <a:ext cx="812430" cy="503388"/>
          </a:xfrm>
          <a:prstGeom prst="flowChartMultidocument">
            <a:avLst/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Data sources</a:t>
            </a:r>
            <a:endParaRPr sz="200"/>
          </a:p>
        </p:txBody>
      </p:sp>
      <p:sp>
        <p:nvSpPr>
          <p:cNvPr id="64" name="Google Shape;64;g3e1188e9378_0_1"/>
          <p:cNvSpPr/>
          <p:nvPr/>
        </p:nvSpPr>
        <p:spPr>
          <a:xfrm>
            <a:off x="9297000" y="971463"/>
            <a:ext cx="787500" cy="503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Embedding</a:t>
            </a:r>
            <a:r>
              <a:rPr lang="en-US" sz="700"/>
              <a:t> </a:t>
            </a:r>
            <a:endParaRPr sz="700"/>
          </a:p>
        </p:txBody>
      </p:sp>
      <p:sp>
        <p:nvSpPr>
          <p:cNvPr id="65" name="Google Shape;65;g3e1188e9378_0_1"/>
          <p:cNvSpPr/>
          <p:nvPr/>
        </p:nvSpPr>
        <p:spPr>
          <a:xfrm>
            <a:off x="10508250" y="944063"/>
            <a:ext cx="752675" cy="558225"/>
          </a:xfrm>
          <a:prstGeom prst="flowChartMagneticDisk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Vector Db</a:t>
            </a:r>
            <a:endParaRPr sz="800"/>
          </a:p>
        </p:txBody>
      </p:sp>
      <p:sp>
        <p:nvSpPr>
          <p:cNvPr id="66" name="Google Shape;66;g3e1188e9378_0_1"/>
          <p:cNvSpPr/>
          <p:nvPr/>
        </p:nvSpPr>
        <p:spPr>
          <a:xfrm>
            <a:off x="9366725" y="1726650"/>
            <a:ext cx="1894200" cy="687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Retrieved info </a:t>
            </a:r>
            <a:endParaRPr sz="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+ query </a:t>
            </a:r>
            <a:endParaRPr sz="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+ system prompt</a:t>
            </a:r>
            <a:endParaRPr sz="800"/>
          </a:p>
        </p:txBody>
      </p:sp>
      <p:sp>
        <p:nvSpPr>
          <p:cNvPr id="67" name="Google Shape;67;g3e1188e9378_0_1"/>
          <p:cNvSpPr/>
          <p:nvPr/>
        </p:nvSpPr>
        <p:spPr>
          <a:xfrm>
            <a:off x="9962375" y="2666325"/>
            <a:ext cx="702900" cy="608100"/>
          </a:xfrm>
          <a:prstGeom prst="flowChartMagneticTap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LLM</a:t>
            </a:r>
            <a:endParaRPr sz="900"/>
          </a:p>
        </p:txBody>
      </p:sp>
      <p:sp>
        <p:nvSpPr>
          <p:cNvPr id="68" name="Google Shape;68;g3e1188e9378_0_1"/>
          <p:cNvSpPr/>
          <p:nvPr/>
        </p:nvSpPr>
        <p:spPr>
          <a:xfrm>
            <a:off x="8086850" y="320050"/>
            <a:ext cx="608400" cy="3279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3e1188e9378_0_1"/>
          <p:cNvSpPr txBox="1"/>
          <p:nvPr/>
        </p:nvSpPr>
        <p:spPr>
          <a:xfrm>
            <a:off x="8133200" y="1380775"/>
            <a:ext cx="51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Query</a:t>
            </a:r>
            <a:endParaRPr sz="800"/>
          </a:p>
        </p:txBody>
      </p:sp>
      <p:sp>
        <p:nvSpPr>
          <p:cNvPr id="70" name="Google Shape;70;g3e1188e9378_0_1"/>
          <p:cNvSpPr txBox="1"/>
          <p:nvPr/>
        </p:nvSpPr>
        <p:spPr>
          <a:xfrm>
            <a:off x="8128700" y="2848425"/>
            <a:ext cx="5247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Output</a:t>
            </a:r>
            <a:endParaRPr sz="800"/>
          </a:p>
        </p:txBody>
      </p:sp>
      <p:cxnSp>
        <p:nvCxnSpPr>
          <p:cNvPr id="71" name="Google Shape;71;g3e1188e9378_0_1"/>
          <p:cNvCxnSpPr>
            <a:stCxn id="69" idx="3"/>
            <a:endCxn id="64" idx="1"/>
          </p:cNvCxnSpPr>
          <p:nvPr/>
        </p:nvCxnSpPr>
        <p:spPr>
          <a:xfrm rot="10800000" flipH="1">
            <a:off x="8648900" y="1223275"/>
            <a:ext cx="648000" cy="29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" name="Google Shape;72;g3e1188e9378_0_1"/>
          <p:cNvCxnSpPr>
            <a:stCxn id="69" idx="2"/>
            <a:endCxn id="66" idx="1"/>
          </p:cNvCxnSpPr>
          <p:nvPr/>
        </p:nvCxnSpPr>
        <p:spPr>
          <a:xfrm>
            <a:off x="8391050" y="1654975"/>
            <a:ext cx="975600" cy="415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g3e1188e9378_0_1"/>
          <p:cNvCxnSpPr>
            <a:stCxn id="64" idx="3"/>
            <a:endCxn id="65" idx="2"/>
          </p:cNvCxnSpPr>
          <p:nvPr/>
        </p:nvCxnSpPr>
        <p:spPr>
          <a:xfrm>
            <a:off x="10084500" y="1223163"/>
            <a:ext cx="423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g3e1188e9378_0_1"/>
          <p:cNvCxnSpPr>
            <a:stCxn id="63" idx="2"/>
            <a:endCxn id="64" idx="0"/>
          </p:cNvCxnSpPr>
          <p:nvPr/>
        </p:nvCxnSpPr>
        <p:spPr>
          <a:xfrm flipH="1">
            <a:off x="9690821" y="700625"/>
            <a:ext cx="900" cy="27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75;g3e1188e9378_0_1"/>
          <p:cNvCxnSpPr>
            <a:stCxn id="65" idx="3"/>
            <a:endCxn id="66" idx="0"/>
          </p:cNvCxnSpPr>
          <p:nvPr/>
        </p:nvCxnSpPr>
        <p:spPr>
          <a:xfrm flipH="1">
            <a:off x="10313687" y="1502288"/>
            <a:ext cx="570900" cy="22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76;g3e1188e9378_0_1"/>
          <p:cNvCxnSpPr>
            <a:stCxn id="66" idx="2"/>
            <a:endCxn id="67" idx="0"/>
          </p:cNvCxnSpPr>
          <p:nvPr/>
        </p:nvCxnSpPr>
        <p:spPr>
          <a:xfrm>
            <a:off x="10313825" y="2414550"/>
            <a:ext cx="0" cy="25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g3e1188e9378_0_1"/>
          <p:cNvCxnSpPr>
            <a:stCxn id="67" idx="1"/>
            <a:endCxn id="70" idx="3"/>
          </p:cNvCxnSpPr>
          <p:nvPr/>
        </p:nvCxnSpPr>
        <p:spPr>
          <a:xfrm rot="10800000">
            <a:off x="8653475" y="2970375"/>
            <a:ext cx="1308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" name="Google Shape;78;g3e1188e9378_0_1"/>
          <p:cNvSpPr/>
          <p:nvPr/>
        </p:nvSpPr>
        <p:spPr>
          <a:xfrm>
            <a:off x="1017825" y="4318525"/>
            <a:ext cx="2686500" cy="1096500"/>
          </a:xfrm>
          <a:prstGeom prst="roundRect">
            <a:avLst>
              <a:gd name="adj" fmla="val 16667"/>
            </a:avLst>
          </a:prstGeom>
          <a:solidFill>
            <a:srgbClr val="1135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“What is this paper about?”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Georgia"/>
              <a:buNone/>
            </a:pPr>
            <a:r>
              <a:rPr lang="en-US" sz="3000" b="1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RAG pipeline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lang="en-US" i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From documents to embeddings and retrieval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57200" y="1325880"/>
            <a:ext cx="457200" cy="54864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57225" y="1614950"/>
            <a:ext cx="2011800" cy="3395100"/>
          </a:xfrm>
          <a:prstGeom prst="rect">
            <a:avLst/>
          </a:prstGeom>
          <a:solidFill>
            <a:srgbClr val="0B1F3A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57125" y="1956775"/>
            <a:ext cx="2011800" cy="20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Chunking documents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documents are too big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 needs smaller section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 rot="5400000">
            <a:off x="2514600" y="3154680"/>
            <a:ext cx="365760" cy="365760"/>
          </a:xfrm>
          <a:prstGeom prst="rtTriangle">
            <a:avLst/>
          </a:prstGeom>
          <a:solidFill>
            <a:srgbClr val="5C6B7A"/>
          </a:solidFill>
          <a:ln w="12700" cap="flat" cmpd="sng">
            <a:solidFill>
              <a:srgbClr val="5C6B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2834700" y="1614945"/>
            <a:ext cx="2011800" cy="336960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2834600" y="1745925"/>
            <a:ext cx="2011800" cy="31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 → vector database</a:t>
            </a:r>
            <a:endParaRPr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numerical representation of text meaning</a:t>
            </a:r>
            <a:endParaRPr sz="1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similar text → similar vectors</a:t>
            </a:r>
            <a:endParaRPr sz="1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lang="en-US" sz="12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chunks size and overlap</a:t>
            </a:r>
            <a:endParaRPr sz="12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 rot="5400000">
            <a:off x="4892040" y="3154680"/>
            <a:ext cx="365760" cy="365760"/>
          </a:xfrm>
          <a:prstGeom prst="rtTriangle">
            <a:avLst/>
          </a:prstGeom>
          <a:solidFill>
            <a:srgbClr val="5C6B7A"/>
          </a:solidFill>
          <a:ln w="12700" cap="flat" cmpd="sng">
            <a:solidFill>
              <a:srgbClr val="5C6B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212075" y="1614950"/>
            <a:ext cx="2011800" cy="3369600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212175" y="1781525"/>
            <a:ext cx="2011800" cy="31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lang="en-US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Similarity search</a:t>
            </a:r>
            <a:endParaRPr b="1">
              <a:solidFill>
                <a:srgbClr val="0B1F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endParaRPr b="1">
              <a:solidFill>
                <a:srgbClr val="0B1F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searching for similar chunks based on question </a:t>
            </a:r>
            <a:endParaRPr sz="1200">
              <a:solidFill>
                <a:srgbClr val="0B1F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or MMR - searching for most relevant and diverse</a:t>
            </a:r>
            <a:endParaRPr sz="1200">
              <a:solidFill>
                <a:srgbClr val="0B1F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top-k</a:t>
            </a:r>
            <a:endParaRPr sz="1200">
              <a:solidFill>
                <a:srgbClr val="0B1F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 rot="5400000">
            <a:off x="7269480" y="3154680"/>
            <a:ext cx="365760" cy="365760"/>
          </a:xfrm>
          <a:prstGeom prst="rtTriangle">
            <a:avLst/>
          </a:prstGeom>
          <a:solidFill>
            <a:srgbClr val="5C6B7A"/>
          </a:solidFill>
          <a:ln w="12700" cap="flat" cmpd="sng">
            <a:solidFill>
              <a:srgbClr val="5C6B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7589525" y="1614950"/>
            <a:ext cx="2011800" cy="3369600"/>
          </a:xfrm>
          <a:prstGeom prst="rect">
            <a:avLst/>
          </a:prstGeom>
          <a:solidFill>
            <a:srgbClr val="11355C"/>
          </a:solidFill>
          <a:ln w="127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7589625" y="1615025"/>
            <a:ext cx="20118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Retrieved context + prompt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retrieved chunks are added in system prompt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 rot="5400000">
            <a:off x="9646920" y="3154680"/>
            <a:ext cx="365760" cy="365760"/>
          </a:xfrm>
          <a:prstGeom prst="rtTriangle">
            <a:avLst/>
          </a:prstGeom>
          <a:solidFill>
            <a:srgbClr val="5C6B7A"/>
          </a:solidFill>
          <a:ln w="12700" cap="flat" cmpd="sng">
            <a:solidFill>
              <a:srgbClr val="5C6B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9966950" y="1614950"/>
            <a:ext cx="1737300" cy="3369600"/>
          </a:xfrm>
          <a:prstGeom prst="rect">
            <a:avLst/>
          </a:prstGeom>
          <a:solidFill>
            <a:srgbClr val="2E8B57"/>
          </a:solidFill>
          <a:ln w="12700" cap="flat" cmpd="sng">
            <a:solidFill>
              <a:srgbClr val="2E8B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9967075" y="1710325"/>
            <a:ext cx="1737300" cy="25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→ answer</a:t>
            </a: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generates answer based on the whole prompt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40080" y="5577840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F3A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1064240" y="655624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4 / 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Georgia"/>
              <a:buNone/>
            </a:pPr>
            <a:r>
              <a:rPr lang="en-US" sz="3000" b="1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Parameters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57200" y="1081830"/>
            <a:ext cx="457200" cy="54900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80060" y="1554480"/>
            <a:ext cx="2697600" cy="3657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0060" y="1554480"/>
            <a:ext cx="2697480" cy="73152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80060" y="1627613"/>
            <a:ext cx="2697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55C"/>
              </a:buClr>
              <a:buSzPts val="3200"/>
              <a:buFont typeface="Georgia"/>
              <a:buNone/>
            </a:pPr>
            <a:r>
              <a:rPr lang="en-US" sz="2600" b="1">
                <a:solidFill>
                  <a:srgbClr val="11355C"/>
                </a:solidFill>
                <a:latin typeface="Georgia"/>
                <a:ea typeface="Georgia"/>
                <a:cs typeface="Georgia"/>
                <a:sym typeface="Georgia"/>
              </a:rPr>
              <a:t>Chunk size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17220" y="2404935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lang="en-US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how much text is stored in one retrieval unit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708525" y="2976325"/>
            <a:ext cx="2240400" cy="20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0005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small chunk size </a:t>
            </a:r>
            <a:r>
              <a:rPr lang="en-US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～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500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precise retrieval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less relevant info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better for factual lookup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loss of context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FAQ/support chatbot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large chunk size </a:t>
            </a:r>
            <a:r>
              <a:rPr lang="en-US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～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2500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more context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better coherence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more noise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retrieval less precise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papers/long summaries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314700" y="1554480"/>
            <a:ext cx="2697480" cy="3657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314700" y="1554480"/>
            <a:ext cx="2697480" cy="73152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314675" y="1627613"/>
            <a:ext cx="2697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55C"/>
              </a:buClr>
              <a:buSzPts val="3200"/>
              <a:buFont typeface="Georgia"/>
              <a:buNone/>
            </a:pPr>
            <a:r>
              <a:rPr lang="en-US" sz="2600" b="1">
                <a:solidFill>
                  <a:srgbClr val="11355C"/>
                </a:solidFill>
                <a:latin typeface="Georgia"/>
                <a:ea typeface="Georgia"/>
                <a:cs typeface="Georgia"/>
                <a:sym typeface="Georgia"/>
              </a:rPr>
              <a:t>Chunk overlap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451885" y="2404935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lang="en-US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how much text of the previous chunk repeats inside next chunk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543300" y="2976327"/>
            <a:ext cx="2240400" cy="19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0005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without overlap: important information can become split across chunks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with overlap: both chunks contain part of shared context → retrieval becomes more robust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too little </a:t>
            </a:r>
            <a:r>
              <a:rPr lang="en-US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～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10 - context fragmentation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too much </a:t>
            </a:r>
            <a:r>
              <a:rPr lang="en-US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～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800 - nearly identical chunks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49340" y="1554480"/>
            <a:ext cx="2697600" cy="3657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9340" y="1554480"/>
            <a:ext cx="2697480" cy="73152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9265" y="1649363"/>
            <a:ext cx="2697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55C"/>
              </a:buClr>
              <a:buSzPts val="3200"/>
              <a:buFont typeface="Georgia"/>
              <a:buNone/>
            </a:pPr>
            <a:r>
              <a:rPr lang="en-US" sz="2600" b="1">
                <a:solidFill>
                  <a:srgbClr val="11355C"/>
                </a:solidFill>
                <a:latin typeface="Georgia"/>
                <a:ea typeface="Georgia"/>
                <a:cs typeface="Georgia"/>
                <a:sym typeface="Georgia"/>
              </a:rPr>
              <a:t>Top-k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286550" y="2404935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chunks are retrieved from the vector database</a:t>
            </a:r>
            <a:endParaRPr sz="1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377950" y="2976252"/>
            <a:ext cx="2240400" cy="19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0005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small top-k </a:t>
            </a:r>
            <a:r>
              <a:rPr lang="en-US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～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very focused context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lower latency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cheaper inference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missing info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large top-k </a:t>
            </a:r>
            <a:r>
              <a:rPr lang="en-US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～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broader context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better for multi-document reasoning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more noise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larger prompt cost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983980" y="1554480"/>
            <a:ext cx="2697480" cy="3657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983980" y="1554480"/>
            <a:ext cx="2697480" cy="73152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8983880" y="1627613"/>
            <a:ext cx="2697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55C"/>
              </a:buClr>
              <a:buSzPts val="3200"/>
              <a:buFont typeface="Georgia"/>
              <a:buNone/>
            </a:pPr>
            <a:r>
              <a:rPr lang="en-US" sz="2600" b="1">
                <a:solidFill>
                  <a:srgbClr val="11355C"/>
                </a:solidFill>
                <a:latin typeface="Georgia"/>
                <a:ea typeface="Georgia"/>
                <a:cs typeface="Georgia"/>
                <a:sym typeface="Georgia"/>
              </a:rPr>
              <a:t>Temperature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121315" y="2404935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lang="en-US" b="1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how random is the LLM output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212575" y="2976252"/>
            <a:ext cx="2240400" cy="19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0005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does not affect retrieval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only affects generation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0005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 RAG systems is better to set low temperature </a:t>
            </a:r>
            <a:r>
              <a:rPr lang="en-US" sz="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～ </a:t>
            </a: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deterministic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stable 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less creative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○"/>
            </a:pPr>
            <a:r>
              <a:rPr lang="en-US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→ accurate use of retrieved context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72438" y="5532133"/>
            <a:ext cx="11247000" cy="777300"/>
          </a:xfrm>
          <a:prstGeom prst="rect">
            <a:avLst/>
          </a:prstGeom>
          <a:solidFill>
            <a:srgbClr val="0B1F3A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40080" y="5577840"/>
            <a:ext cx="10881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400"/>
              <a:buFont typeface="Calibri"/>
              <a:buNone/>
            </a:pPr>
            <a:r>
              <a:rPr lang="en-US" sz="1500" b="1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→ these parameters are trade offs - there is no universally optimal configuration, it is always based on the type of task you are solving  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F3A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1064240" y="655624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5 / 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Georgia"/>
              <a:buNone/>
            </a:pPr>
            <a:r>
              <a:rPr lang="en-US" sz="3000" b="1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Limitations of RAG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lang="en-US" i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What questions RAG cannot answer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57200" y="1325880"/>
            <a:ext cx="457200" cy="54864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11455" y="1508760"/>
            <a:ext cx="3657600" cy="4114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F4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11455" y="1508760"/>
            <a:ext cx="3657600" cy="777300"/>
          </a:xfrm>
          <a:prstGeom prst="rect">
            <a:avLst/>
          </a:prstGeom>
          <a:solidFill>
            <a:srgbClr val="11355C"/>
          </a:solidFill>
          <a:ln w="127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11480" y="5166360"/>
            <a:ext cx="3657600" cy="457200"/>
          </a:xfrm>
          <a:prstGeom prst="rect">
            <a:avLst/>
          </a:prstGeom>
          <a:solidFill>
            <a:srgbClr val="E8EEF4"/>
          </a:solidFill>
          <a:ln w="12700" cap="flat" cmpd="sng">
            <a:solidFill>
              <a:srgbClr val="E8EE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251960" y="1508760"/>
            <a:ext cx="3657600" cy="4114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F4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251960" y="1508760"/>
            <a:ext cx="3657600" cy="777240"/>
          </a:xfrm>
          <a:prstGeom prst="rect">
            <a:avLst/>
          </a:prstGeom>
          <a:solidFill>
            <a:srgbClr val="1C7293"/>
          </a:solidFill>
          <a:ln w="12700" cap="flat" cmpd="sng">
            <a:solidFill>
              <a:srgbClr val="1C72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11460" y="1554430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Context problems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11460" y="196594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problems in document representation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40050" y="2218078"/>
            <a:ext cx="320040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▸"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Information dilution</a:t>
            </a:r>
            <a:endParaRPr sz="11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too much context may overwhelm the model, reduce answer precision and increase hallucinations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▸"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Context fragmentation</a:t>
            </a:r>
            <a:endParaRPr sz="11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important information can be separated across the whole document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▸"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Chunking problems</a:t>
            </a:r>
            <a:endParaRPr sz="11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too small or too large chunks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little overlap - losing the full meaning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251960" y="5166360"/>
            <a:ext cx="3657600" cy="457200"/>
          </a:xfrm>
          <a:prstGeom prst="rect">
            <a:avLst/>
          </a:prstGeom>
          <a:solidFill>
            <a:srgbClr val="E8EEF4"/>
          </a:solidFill>
          <a:ln w="12700" cap="flat" cmpd="sng">
            <a:solidFill>
              <a:srgbClr val="E8EE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11460" y="516631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Representation quality strongly affects retrieval quality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8092440" y="1508760"/>
            <a:ext cx="3657600" cy="4114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F4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092440" y="1508760"/>
            <a:ext cx="3657600" cy="777240"/>
          </a:xfrm>
          <a:prstGeom prst="rect">
            <a:avLst/>
          </a:prstGeom>
          <a:solidFill>
            <a:srgbClr val="6A1B9A"/>
          </a:solidFill>
          <a:ln w="12700" cap="flat" cmpd="sng">
            <a:solidFill>
              <a:srgbClr val="6A1B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092440" y="15544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Reasoning problems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092440" y="1965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problems during inference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371850" y="2386817"/>
            <a:ext cx="3200400" cy="1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▸"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Summary problem</a:t>
            </a:r>
            <a:endParaRPr sz="11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RAG is more question and answer tool than summarizing across all documents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4325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▸"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Context window limitation</a:t>
            </a:r>
            <a:endParaRPr sz="11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LLMs have finite context windows - model cannot load whole database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small subset of knowledge is visible during inference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▸"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Lack of planning</a:t>
            </a:r>
            <a:endParaRPr sz="11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task decomposition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aggregation of evidence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▸"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iterative reasoning</a:t>
            </a:r>
            <a:endParaRPr sz="11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recognition of missing information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reformulation of failed queries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092440" y="5166360"/>
            <a:ext cx="3657600" cy="457200"/>
          </a:xfrm>
          <a:prstGeom prst="rect">
            <a:avLst/>
          </a:prstGeom>
          <a:solidFill>
            <a:srgbClr val="E8EEF4"/>
          </a:solidFill>
          <a:ln w="12700" cap="flat" cmpd="sng">
            <a:solidFill>
              <a:srgbClr val="E8EE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092440" y="51663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A1B9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rPr>
              <a:t>RAG improves access to information but it does not solve all our problems.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1F3A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65760" y="6556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1064240" y="655624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6 / 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443050" y="2218064"/>
            <a:ext cx="3200400" cy="21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6075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▸"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Semantic mismatch</a:t>
            </a:r>
            <a:endParaRPr sz="11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similarity search retrieves unrelated chunks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different wording may produce poor retrieval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similarity search works in embedding space, not through true understanding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▸"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Retrieval bias</a:t>
            </a:r>
            <a:endParaRPr sz="11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repeatedly retrieving chunks from one document or topic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often happens with highly similar documents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▸"/>
            </a:pPr>
            <a:r>
              <a:rPr lang="en-US" sz="1100" b="1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Top-k limitations </a:t>
            </a:r>
            <a:endParaRPr sz="1100" b="1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14375" marR="0" lvl="1" indent="-29845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too few or too many retrieved chunks</a:t>
            </a:r>
            <a:endParaRPr sz="11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251955" y="196596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problems during search phase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251955" y="1554418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lang="en-US" sz="2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Retrieval problems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251955" y="51663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355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1355C"/>
                </a:solidFill>
                <a:latin typeface="Calibri"/>
                <a:ea typeface="Calibri"/>
                <a:cs typeface="Calibri"/>
                <a:sym typeface="Calibri"/>
              </a:rPr>
              <a:t>RAG system can only reason over what they retrieve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1188e9378_0_14"/>
          <p:cNvSpPr/>
          <p:nvPr/>
        </p:nvSpPr>
        <p:spPr>
          <a:xfrm>
            <a:off x="0" y="6537960"/>
            <a:ext cx="12161400" cy="320100"/>
          </a:xfrm>
          <a:prstGeom prst="rect">
            <a:avLst/>
          </a:prstGeom>
          <a:solidFill>
            <a:srgbClr val="0B1F3A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e1188e9378_0_14"/>
          <p:cNvSpPr/>
          <p:nvPr/>
        </p:nvSpPr>
        <p:spPr>
          <a:xfrm>
            <a:off x="11064240" y="6556248"/>
            <a:ext cx="73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7  / 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e1188e9378_0_14"/>
          <p:cNvSpPr/>
          <p:nvPr/>
        </p:nvSpPr>
        <p:spPr>
          <a:xfrm>
            <a:off x="365760" y="655624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e1188e9378_0_14"/>
          <p:cNvSpPr/>
          <p:nvPr/>
        </p:nvSpPr>
        <p:spPr>
          <a:xfrm>
            <a:off x="457200" y="1325880"/>
            <a:ext cx="457200" cy="54900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e1188e9378_0_14"/>
          <p:cNvSpPr/>
          <p:nvPr/>
        </p:nvSpPr>
        <p:spPr>
          <a:xfrm>
            <a:off x="457200" y="320050"/>
            <a:ext cx="7384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3000"/>
              <a:buFont typeface="Georgia"/>
              <a:buNone/>
            </a:pPr>
            <a:r>
              <a:rPr lang="en-US" sz="3000" b="1">
                <a:solidFill>
                  <a:srgbClr val="0B1F3A"/>
                </a:solidFill>
                <a:latin typeface="Georgia"/>
                <a:ea typeface="Georgia"/>
                <a:cs typeface="Georgia"/>
                <a:sym typeface="Georgia"/>
              </a:rPr>
              <a:t>RAG in agentic systems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e1188e9378_0_14"/>
          <p:cNvSpPr/>
          <p:nvPr/>
        </p:nvSpPr>
        <p:spPr>
          <a:xfrm>
            <a:off x="457200" y="914400"/>
            <a:ext cx="7289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libri"/>
              <a:buNone/>
            </a:pPr>
            <a:r>
              <a:rPr lang="en-US" sz="1300" i="1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More than just a retrieval</a:t>
            </a:r>
            <a:endParaRPr sz="1500">
              <a:solidFill>
                <a:srgbClr val="1C729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e1188e9378_0_14"/>
          <p:cNvSpPr/>
          <p:nvPr/>
        </p:nvSpPr>
        <p:spPr>
          <a:xfrm>
            <a:off x="689850" y="1746400"/>
            <a:ext cx="6824400" cy="23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55C"/>
              </a:buClr>
              <a:buSzPts val="1300"/>
              <a:buFont typeface="Times New Roman"/>
              <a:buChar char="●"/>
            </a:pPr>
            <a:r>
              <a:rPr lang="en-US" sz="1800" b="1">
                <a:solidFill>
                  <a:srgbClr val="1135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retrieval steps - evaluation and refining query</a:t>
            </a:r>
            <a:endParaRPr sz="1800" b="1">
              <a:solidFill>
                <a:srgbClr val="1135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55C"/>
              </a:buClr>
              <a:buSzPts val="1300"/>
              <a:buFont typeface="Times New Roman"/>
              <a:buChar char="●"/>
            </a:pPr>
            <a:r>
              <a:rPr lang="en-US" sz="1800" b="1">
                <a:solidFill>
                  <a:srgbClr val="1135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just search anymore →better in</a:t>
            </a:r>
            <a:endParaRPr sz="1800" b="1">
              <a:solidFill>
                <a:srgbClr val="1135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600"/>
              <a:buFont typeface="Times New Roman"/>
              <a:buChar char="○"/>
            </a:pPr>
            <a:r>
              <a:rPr lang="en-US" sz="1600" b="1">
                <a:solidFill>
                  <a:srgbClr val="5C6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reasoning </a:t>
            </a:r>
            <a:endParaRPr sz="1600" b="1">
              <a:solidFill>
                <a:srgbClr val="5C6B7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600"/>
              <a:buFont typeface="Times New Roman"/>
              <a:buChar char="○"/>
            </a:pPr>
            <a:r>
              <a:rPr lang="en-US" sz="1600" b="1">
                <a:solidFill>
                  <a:srgbClr val="5C6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  <a:endParaRPr sz="1600" b="1">
              <a:solidFill>
                <a:srgbClr val="5C6B7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600"/>
              <a:buFont typeface="Times New Roman"/>
              <a:buChar char="○"/>
            </a:pPr>
            <a:r>
              <a:rPr lang="en-US" sz="1600" b="1">
                <a:solidFill>
                  <a:srgbClr val="5C6B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iterative search…</a:t>
            </a:r>
            <a:endParaRPr sz="1600" b="1">
              <a:solidFill>
                <a:srgbClr val="5C6B7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55C"/>
              </a:buClr>
              <a:buSzPts val="1300"/>
              <a:buFont typeface="Times New Roman"/>
              <a:buChar char="●"/>
            </a:pPr>
            <a:r>
              <a:rPr lang="en-US" sz="1800" b="1">
                <a:solidFill>
                  <a:srgbClr val="1135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example:</a:t>
            </a:r>
            <a:endParaRPr sz="1800" b="1">
              <a:solidFill>
                <a:srgbClr val="1135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1135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e1188e9378_0_14"/>
          <p:cNvSpPr/>
          <p:nvPr/>
        </p:nvSpPr>
        <p:spPr>
          <a:xfrm>
            <a:off x="8633584" y="536275"/>
            <a:ext cx="164700" cy="155700"/>
          </a:xfrm>
          <a:prstGeom prst="ellipse">
            <a:avLst/>
          </a:prstGeom>
          <a:solidFill>
            <a:schemeClr val="lt2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00" tIns="81500" rIns="81500" bIns="81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8"/>
          </a:p>
        </p:txBody>
      </p:sp>
      <p:sp>
        <p:nvSpPr>
          <p:cNvPr id="182" name="Google Shape;182;g3e1188e9378_0_14"/>
          <p:cNvSpPr/>
          <p:nvPr/>
        </p:nvSpPr>
        <p:spPr>
          <a:xfrm>
            <a:off x="8582502" y="733937"/>
            <a:ext cx="266700" cy="2175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2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00" tIns="81500" rIns="81500" bIns="81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8"/>
          </a:p>
        </p:txBody>
      </p:sp>
      <p:sp>
        <p:nvSpPr>
          <p:cNvPr id="183" name="Google Shape;183;g3e1188e9378_0_14"/>
          <p:cNvSpPr/>
          <p:nvPr/>
        </p:nvSpPr>
        <p:spPr>
          <a:xfrm>
            <a:off x="9584607" y="236250"/>
            <a:ext cx="724248" cy="448740"/>
          </a:xfrm>
          <a:prstGeom prst="flowChartMultidocument">
            <a:avLst/>
          </a:prstGeom>
          <a:solidFill>
            <a:schemeClr val="accent3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00" tIns="81500" rIns="81500" bIns="81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3"/>
              <a:t>Memory</a:t>
            </a:r>
            <a:endParaRPr sz="178"/>
          </a:p>
        </p:txBody>
      </p:sp>
      <p:sp>
        <p:nvSpPr>
          <p:cNvPr id="184" name="Google Shape;184;g3e1188e9378_0_14"/>
          <p:cNvSpPr/>
          <p:nvPr/>
        </p:nvSpPr>
        <p:spPr>
          <a:xfrm>
            <a:off x="10055550" y="980552"/>
            <a:ext cx="702000" cy="44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00" tIns="81500" rIns="81500" bIns="81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3"/>
              <a:t>Agent</a:t>
            </a:r>
            <a:r>
              <a:rPr lang="en-US" sz="624"/>
              <a:t> </a:t>
            </a:r>
            <a:endParaRPr sz="624"/>
          </a:p>
        </p:txBody>
      </p:sp>
      <p:sp>
        <p:nvSpPr>
          <p:cNvPr id="185" name="Google Shape;185;g3e1188e9378_0_14"/>
          <p:cNvSpPr/>
          <p:nvPr/>
        </p:nvSpPr>
        <p:spPr>
          <a:xfrm>
            <a:off x="10011087" y="2800148"/>
            <a:ext cx="790937" cy="509577"/>
          </a:xfrm>
          <a:prstGeom prst="flowChartMagneticDisk">
            <a:avLst/>
          </a:prstGeom>
          <a:solidFill>
            <a:schemeClr val="accent1"/>
          </a:solidFill>
          <a:ln w="85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00" tIns="81500" rIns="81500" bIns="815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3"/>
              <a:t>Data sources</a:t>
            </a:r>
            <a:endParaRPr sz="713"/>
          </a:p>
        </p:txBody>
      </p:sp>
      <p:sp>
        <p:nvSpPr>
          <p:cNvPr id="186" name="Google Shape;186;g3e1188e9378_0_14"/>
          <p:cNvSpPr/>
          <p:nvPr/>
        </p:nvSpPr>
        <p:spPr>
          <a:xfrm>
            <a:off x="9562242" y="1901487"/>
            <a:ext cx="1688700" cy="613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00" tIns="81500" rIns="81500" bIns="81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3"/>
              <a:t>Tools - summary tool, vectorStore tool, webSearch tool…</a:t>
            </a:r>
            <a:endParaRPr sz="713"/>
          </a:p>
        </p:txBody>
      </p:sp>
      <p:sp>
        <p:nvSpPr>
          <p:cNvPr id="187" name="Google Shape;187;g3e1188e9378_0_14"/>
          <p:cNvSpPr/>
          <p:nvPr/>
        </p:nvSpPr>
        <p:spPr>
          <a:xfrm>
            <a:off x="8465675" y="328740"/>
            <a:ext cx="542400" cy="1866900"/>
          </a:xfrm>
          <a:prstGeom prst="roundRect">
            <a:avLst>
              <a:gd name="adj" fmla="val 16667"/>
            </a:avLst>
          </a:prstGeom>
          <a:noFill/>
          <a:ln w="85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00" tIns="81500" rIns="81500" bIns="81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48"/>
          </a:p>
        </p:txBody>
      </p:sp>
      <p:sp>
        <p:nvSpPr>
          <p:cNvPr id="188" name="Google Shape;188;g3e1188e9378_0_14"/>
          <p:cNvSpPr txBox="1"/>
          <p:nvPr/>
        </p:nvSpPr>
        <p:spPr>
          <a:xfrm>
            <a:off x="8506995" y="1091819"/>
            <a:ext cx="459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500" tIns="81500" rIns="81500" bIns="81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3"/>
              <a:t>Query</a:t>
            </a:r>
            <a:endParaRPr sz="713"/>
          </a:p>
        </p:txBody>
      </p:sp>
      <p:sp>
        <p:nvSpPr>
          <p:cNvPr id="189" name="Google Shape;189;g3e1188e9378_0_14"/>
          <p:cNvSpPr txBox="1"/>
          <p:nvPr/>
        </p:nvSpPr>
        <p:spPr>
          <a:xfrm>
            <a:off x="8502983" y="1649568"/>
            <a:ext cx="4677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500" tIns="81500" rIns="81500" bIns="81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3"/>
              <a:t>Output</a:t>
            </a:r>
            <a:endParaRPr sz="713"/>
          </a:p>
        </p:txBody>
      </p:sp>
      <p:cxnSp>
        <p:nvCxnSpPr>
          <p:cNvPr id="190" name="Google Shape;190;g3e1188e9378_0_14"/>
          <p:cNvCxnSpPr>
            <a:stCxn id="188" idx="3"/>
            <a:endCxn id="184" idx="1"/>
          </p:cNvCxnSpPr>
          <p:nvPr/>
        </p:nvCxnSpPr>
        <p:spPr>
          <a:xfrm rot="10800000" flipH="1">
            <a:off x="8966595" y="1205069"/>
            <a:ext cx="1089000" cy="9000"/>
          </a:xfrm>
          <a:prstGeom prst="straightConnector1">
            <a:avLst/>
          </a:prstGeom>
          <a:noFill/>
          <a:ln w="85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1" name="Google Shape;191;g3e1188e9378_0_14"/>
          <p:cNvCxnSpPr>
            <a:stCxn id="184" idx="2"/>
            <a:endCxn id="186" idx="0"/>
          </p:cNvCxnSpPr>
          <p:nvPr/>
        </p:nvCxnSpPr>
        <p:spPr>
          <a:xfrm>
            <a:off x="10406550" y="1429352"/>
            <a:ext cx="0" cy="472200"/>
          </a:xfrm>
          <a:prstGeom prst="straightConnector1">
            <a:avLst/>
          </a:prstGeom>
          <a:noFill/>
          <a:ln w="85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2" name="Google Shape;192;g3e1188e9378_0_14"/>
          <p:cNvCxnSpPr>
            <a:stCxn id="183" idx="2"/>
            <a:endCxn id="184" idx="0"/>
          </p:cNvCxnSpPr>
          <p:nvPr/>
        </p:nvCxnSpPr>
        <p:spPr>
          <a:xfrm>
            <a:off x="9896369" y="667996"/>
            <a:ext cx="510300" cy="312600"/>
          </a:xfrm>
          <a:prstGeom prst="straightConnector1">
            <a:avLst/>
          </a:prstGeom>
          <a:noFill/>
          <a:ln w="85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3" name="Google Shape;193;g3e1188e9378_0_14"/>
          <p:cNvSpPr/>
          <p:nvPr/>
        </p:nvSpPr>
        <p:spPr>
          <a:xfrm>
            <a:off x="10608764" y="236261"/>
            <a:ext cx="702000" cy="448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85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500" tIns="81500" rIns="81500" bIns="81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3"/>
              <a:t>Planning</a:t>
            </a:r>
            <a:r>
              <a:rPr lang="en-US" sz="624"/>
              <a:t> </a:t>
            </a:r>
            <a:endParaRPr sz="624"/>
          </a:p>
        </p:txBody>
      </p:sp>
      <p:cxnSp>
        <p:nvCxnSpPr>
          <p:cNvPr id="194" name="Google Shape;194;g3e1188e9378_0_14"/>
          <p:cNvCxnSpPr/>
          <p:nvPr/>
        </p:nvCxnSpPr>
        <p:spPr>
          <a:xfrm>
            <a:off x="10486543" y="2514731"/>
            <a:ext cx="0" cy="285600"/>
          </a:xfrm>
          <a:prstGeom prst="straightConnector1">
            <a:avLst/>
          </a:prstGeom>
          <a:noFill/>
          <a:ln w="85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g3e1188e9378_0_14"/>
          <p:cNvCxnSpPr/>
          <p:nvPr/>
        </p:nvCxnSpPr>
        <p:spPr>
          <a:xfrm rot="10800000">
            <a:off x="10277682" y="2493335"/>
            <a:ext cx="0" cy="302400"/>
          </a:xfrm>
          <a:prstGeom prst="straightConnector1">
            <a:avLst/>
          </a:prstGeom>
          <a:noFill/>
          <a:ln w="85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g3e1188e9378_0_14"/>
          <p:cNvCxnSpPr>
            <a:stCxn id="193" idx="2"/>
            <a:endCxn id="184" idx="0"/>
          </p:cNvCxnSpPr>
          <p:nvPr/>
        </p:nvCxnSpPr>
        <p:spPr>
          <a:xfrm flipH="1">
            <a:off x="10406564" y="685061"/>
            <a:ext cx="553200" cy="295500"/>
          </a:xfrm>
          <a:prstGeom prst="straightConnector1">
            <a:avLst/>
          </a:prstGeom>
          <a:noFill/>
          <a:ln w="85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197;g3e1188e9378_0_14"/>
          <p:cNvCxnSpPr>
            <a:endCxn id="189" idx="3"/>
          </p:cNvCxnSpPr>
          <p:nvPr/>
        </p:nvCxnSpPr>
        <p:spPr>
          <a:xfrm flipH="1">
            <a:off x="8970683" y="1334118"/>
            <a:ext cx="1089300" cy="424200"/>
          </a:xfrm>
          <a:prstGeom prst="curvedConnector3">
            <a:avLst>
              <a:gd name="adj1" fmla="val 50000"/>
            </a:avLst>
          </a:prstGeom>
          <a:noFill/>
          <a:ln w="85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g3e1188e9378_0_14"/>
          <p:cNvCxnSpPr>
            <a:endCxn id="189" idx="3"/>
          </p:cNvCxnSpPr>
          <p:nvPr/>
        </p:nvCxnSpPr>
        <p:spPr>
          <a:xfrm flipH="1">
            <a:off x="8970683" y="1747218"/>
            <a:ext cx="147300" cy="11100"/>
          </a:xfrm>
          <a:prstGeom prst="straightConnector1">
            <a:avLst/>
          </a:prstGeom>
          <a:noFill/>
          <a:ln w="85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9" name="Google Shape;199;g3e1188e9378_0_14"/>
          <p:cNvSpPr/>
          <p:nvPr/>
        </p:nvSpPr>
        <p:spPr>
          <a:xfrm>
            <a:off x="4351892" y="4317972"/>
            <a:ext cx="176400" cy="166800"/>
          </a:xfrm>
          <a:prstGeom prst="ellipse">
            <a:avLst/>
          </a:prstGeom>
          <a:solidFill>
            <a:schemeClr val="lt2"/>
          </a:solidFill>
          <a:ln w="9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350" tIns="87350" rIns="87350" bIns="87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8"/>
          </a:p>
        </p:txBody>
      </p:sp>
      <p:sp>
        <p:nvSpPr>
          <p:cNvPr id="200" name="Google Shape;200;g3e1188e9378_0_14"/>
          <p:cNvSpPr/>
          <p:nvPr/>
        </p:nvSpPr>
        <p:spPr>
          <a:xfrm>
            <a:off x="4297143" y="4522404"/>
            <a:ext cx="285900" cy="2331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lt2"/>
          </a:solidFill>
          <a:ln w="9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350" tIns="87350" rIns="87350" bIns="87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8"/>
          </a:p>
        </p:txBody>
      </p:sp>
      <p:sp>
        <p:nvSpPr>
          <p:cNvPr id="201" name="Google Shape;201;g3e1188e9378_0_14"/>
          <p:cNvSpPr/>
          <p:nvPr/>
        </p:nvSpPr>
        <p:spPr>
          <a:xfrm>
            <a:off x="5266351" y="4095702"/>
            <a:ext cx="847746" cy="546156"/>
          </a:xfrm>
          <a:prstGeom prst="flowChartMultidocument">
            <a:avLst/>
          </a:prstGeom>
          <a:solidFill>
            <a:schemeClr val="accent3"/>
          </a:solidFill>
          <a:ln w="9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350" tIns="87350" rIns="87350" bIns="87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4"/>
              <a:t>Memory - short &amp; long term</a:t>
            </a:r>
            <a:endParaRPr sz="191"/>
          </a:p>
        </p:txBody>
      </p:sp>
      <p:sp>
        <p:nvSpPr>
          <p:cNvPr id="202" name="Google Shape;202;g3e1188e9378_0_14"/>
          <p:cNvSpPr/>
          <p:nvPr/>
        </p:nvSpPr>
        <p:spPr>
          <a:xfrm>
            <a:off x="5876003" y="4944354"/>
            <a:ext cx="752400" cy="480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350" tIns="87350" rIns="87350" bIns="87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4"/>
              <a:t>Aggregator agent</a:t>
            </a:r>
            <a:r>
              <a:rPr lang="en-US" sz="669"/>
              <a:t> </a:t>
            </a:r>
            <a:endParaRPr sz="669"/>
          </a:p>
        </p:txBody>
      </p:sp>
      <p:sp>
        <p:nvSpPr>
          <p:cNvPr id="203" name="Google Shape;203;g3e1188e9378_0_14"/>
          <p:cNvSpPr/>
          <p:nvPr/>
        </p:nvSpPr>
        <p:spPr>
          <a:xfrm>
            <a:off x="10777698" y="4374377"/>
            <a:ext cx="847739" cy="546173"/>
          </a:xfrm>
          <a:prstGeom prst="flowChartMagneticDisk">
            <a:avLst/>
          </a:prstGeom>
          <a:solidFill>
            <a:schemeClr val="accent1"/>
          </a:solidFill>
          <a:ln w="91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350" tIns="87350" rIns="87350" bIns="873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4"/>
              <a:t>Data sources</a:t>
            </a:r>
            <a:endParaRPr sz="764"/>
          </a:p>
        </p:txBody>
      </p:sp>
      <p:sp>
        <p:nvSpPr>
          <p:cNvPr id="204" name="Google Shape;204;g3e1188e9378_0_14"/>
          <p:cNvSpPr/>
          <p:nvPr/>
        </p:nvSpPr>
        <p:spPr>
          <a:xfrm>
            <a:off x="8984525" y="4061475"/>
            <a:ext cx="1237500" cy="2052900"/>
          </a:xfrm>
          <a:prstGeom prst="roundRect">
            <a:avLst>
              <a:gd name="adj" fmla="val 16667"/>
            </a:avLst>
          </a:prstGeom>
          <a:noFill/>
          <a:ln w="9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350" tIns="87350" rIns="87350" bIns="873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4"/>
              <a:t>MCP Servers</a:t>
            </a:r>
            <a:endParaRPr sz="764"/>
          </a:p>
        </p:txBody>
      </p:sp>
      <p:sp>
        <p:nvSpPr>
          <p:cNvPr id="205" name="Google Shape;205;g3e1188e9378_0_14"/>
          <p:cNvSpPr/>
          <p:nvPr/>
        </p:nvSpPr>
        <p:spPr>
          <a:xfrm>
            <a:off x="4149400" y="4210183"/>
            <a:ext cx="581400" cy="2001000"/>
          </a:xfrm>
          <a:prstGeom prst="roundRect">
            <a:avLst>
              <a:gd name="adj" fmla="val 16667"/>
            </a:avLst>
          </a:prstGeom>
          <a:noFill/>
          <a:ln w="91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350" tIns="87350" rIns="87350" bIns="87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38"/>
          </a:p>
        </p:txBody>
      </p:sp>
      <p:sp>
        <p:nvSpPr>
          <p:cNvPr id="206" name="Google Shape;206;g3e1188e9378_0_14"/>
          <p:cNvSpPr txBox="1"/>
          <p:nvPr/>
        </p:nvSpPr>
        <p:spPr>
          <a:xfrm>
            <a:off x="4193812" y="5053862"/>
            <a:ext cx="4926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350" tIns="87350" rIns="87350" bIns="87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4"/>
              <a:t>Query</a:t>
            </a:r>
            <a:endParaRPr sz="764"/>
          </a:p>
        </p:txBody>
      </p:sp>
      <p:sp>
        <p:nvSpPr>
          <p:cNvPr id="207" name="Google Shape;207;g3e1188e9378_0_14"/>
          <p:cNvSpPr txBox="1"/>
          <p:nvPr/>
        </p:nvSpPr>
        <p:spPr>
          <a:xfrm>
            <a:off x="4189462" y="5810292"/>
            <a:ext cx="5013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350" tIns="87350" rIns="87350" bIns="87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4"/>
              <a:t>Output</a:t>
            </a:r>
            <a:endParaRPr sz="764"/>
          </a:p>
        </p:txBody>
      </p:sp>
      <p:cxnSp>
        <p:nvCxnSpPr>
          <p:cNvPr id="208" name="Google Shape;208;g3e1188e9378_0_14"/>
          <p:cNvCxnSpPr>
            <a:stCxn id="206" idx="3"/>
            <a:endCxn id="202" idx="1"/>
          </p:cNvCxnSpPr>
          <p:nvPr/>
        </p:nvCxnSpPr>
        <p:spPr>
          <a:xfrm>
            <a:off x="4686412" y="5184812"/>
            <a:ext cx="1189500" cy="0"/>
          </a:xfrm>
          <a:prstGeom prst="straightConnector1">
            <a:avLst/>
          </a:prstGeom>
          <a:noFill/>
          <a:ln w="9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9" name="Google Shape;209;g3e1188e9378_0_14"/>
          <p:cNvCxnSpPr>
            <a:stCxn id="201" idx="2"/>
            <a:endCxn id="202" idx="0"/>
          </p:cNvCxnSpPr>
          <p:nvPr/>
        </p:nvCxnSpPr>
        <p:spPr>
          <a:xfrm>
            <a:off x="5631274" y="4621174"/>
            <a:ext cx="621000" cy="323100"/>
          </a:xfrm>
          <a:prstGeom prst="straightConnector1">
            <a:avLst/>
          </a:prstGeom>
          <a:noFill/>
          <a:ln w="9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" name="Google Shape;210;g3e1188e9378_0_14"/>
          <p:cNvSpPr/>
          <p:nvPr/>
        </p:nvSpPr>
        <p:spPr>
          <a:xfrm>
            <a:off x="6523748" y="4094112"/>
            <a:ext cx="752400" cy="480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350" tIns="87350" rIns="87350" bIns="87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4"/>
              <a:t>Planning</a:t>
            </a:r>
            <a:r>
              <a:rPr lang="en-US" sz="669"/>
              <a:t> </a:t>
            </a:r>
            <a:endParaRPr sz="669"/>
          </a:p>
        </p:txBody>
      </p:sp>
      <p:cxnSp>
        <p:nvCxnSpPr>
          <p:cNvPr id="211" name="Google Shape;211;g3e1188e9378_0_14"/>
          <p:cNvCxnSpPr>
            <a:stCxn id="210" idx="2"/>
            <a:endCxn id="202" idx="0"/>
          </p:cNvCxnSpPr>
          <p:nvPr/>
        </p:nvCxnSpPr>
        <p:spPr>
          <a:xfrm flipH="1">
            <a:off x="6252248" y="4575012"/>
            <a:ext cx="647700" cy="369300"/>
          </a:xfrm>
          <a:prstGeom prst="straightConnector1">
            <a:avLst/>
          </a:prstGeom>
          <a:noFill/>
          <a:ln w="9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2" name="Google Shape;212;g3e1188e9378_0_14"/>
          <p:cNvSpPr/>
          <p:nvPr/>
        </p:nvSpPr>
        <p:spPr>
          <a:xfrm>
            <a:off x="5928350" y="5625350"/>
            <a:ext cx="647700" cy="603000"/>
          </a:xfrm>
          <a:prstGeom prst="flowChartMagneticTap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LLM</a:t>
            </a:r>
            <a:endParaRPr sz="800"/>
          </a:p>
        </p:txBody>
      </p:sp>
      <p:cxnSp>
        <p:nvCxnSpPr>
          <p:cNvPr id="213" name="Google Shape;213;g3e1188e9378_0_14"/>
          <p:cNvCxnSpPr>
            <a:stCxn id="202" idx="2"/>
            <a:endCxn id="212" idx="0"/>
          </p:cNvCxnSpPr>
          <p:nvPr/>
        </p:nvCxnSpPr>
        <p:spPr>
          <a:xfrm>
            <a:off x="6252203" y="5425254"/>
            <a:ext cx="0" cy="2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214;g3e1188e9378_0_14"/>
          <p:cNvCxnSpPr>
            <a:stCxn id="212" idx="1"/>
            <a:endCxn id="207" idx="3"/>
          </p:cNvCxnSpPr>
          <p:nvPr/>
        </p:nvCxnSpPr>
        <p:spPr>
          <a:xfrm rot="10800000">
            <a:off x="4690850" y="5926850"/>
            <a:ext cx="1237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5" name="Google Shape;215;g3e1188e9378_0_14"/>
          <p:cNvSpPr/>
          <p:nvPr/>
        </p:nvSpPr>
        <p:spPr>
          <a:xfrm>
            <a:off x="7986100" y="4448125"/>
            <a:ext cx="682200" cy="39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Agent 1</a:t>
            </a:r>
            <a:endParaRPr sz="900"/>
          </a:p>
        </p:txBody>
      </p:sp>
      <p:sp>
        <p:nvSpPr>
          <p:cNvPr id="216" name="Google Shape;216;g3e1188e9378_0_14"/>
          <p:cNvSpPr/>
          <p:nvPr/>
        </p:nvSpPr>
        <p:spPr>
          <a:xfrm>
            <a:off x="7986100" y="5011325"/>
            <a:ext cx="682200" cy="39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Agent 2</a:t>
            </a:r>
            <a:endParaRPr sz="900"/>
          </a:p>
        </p:txBody>
      </p:sp>
      <p:sp>
        <p:nvSpPr>
          <p:cNvPr id="217" name="Google Shape;217;g3e1188e9378_0_14"/>
          <p:cNvSpPr/>
          <p:nvPr/>
        </p:nvSpPr>
        <p:spPr>
          <a:xfrm>
            <a:off x="7986100" y="5569238"/>
            <a:ext cx="682200" cy="39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Agent 3</a:t>
            </a:r>
            <a:endParaRPr sz="900"/>
          </a:p>
        </p:txBody>
      </p:sp>
      <p:cxnSp>
        <p:nvCxnSpPr>
          <p:cNvPr id="218" name="Google Shape;218;g3e1188e9378_0_14"/>
          <p:cNvCxnSpPr>
            <a:stCxn id="215" idx="1"/>
            <a:endCxn id="217" idx="1"/>
          </p:cNvCxnSpPr>
          <p:nvPr/>
        </p:nvCxnSpPr>
        <p:spPr>
          <a:xfrm>
            <a:off x="7986100" y="4647475"/>
            <a:ext cx="600" cy="11211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g3e1188e9378_0_14"/>
          <p:cNvCxnSpPr/>
          <p:nvPr/>
        </p:nvCxnSpPr>
        <p:spPr>
          <a:xfrm rot="10800000" flipH="1">
            <a:off x="6625350" y="5031375"/>
            <a:ext cx="1146300" cy="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g3e1188e9378_0_14"/>
          <p:cNvCxnSpPr/>
          <p:nvPr/>
        </p:nvCxnSpPr>
        <p:spPr>
          <a:xfrm flipH="1">
            <a:off x="6625350" y="5265600"/>
            <a:ext cx="1126500" cy="1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g3e1188e9378_0_14"/>
          <p:cNvCxnSpPr>
            <a:endCxn id="216" idx="1"/>
          </p:cNvCxnSpPr>
          <p:nvPr/>
        </p:nvCxnSpPr>
        <p:spPr>
          <a:xfrm>
            <a:off x="7741900" y="5200775"/>
            <a:ext cx="244200" cy="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2" name="Google Shape;222;g3e1188e9378_0_14"/>
          <p:cNvSpPr/>
          <p:nvPr/>
        </p:nvSpPr>
        <p:spPr>
          <a:xfrm>
            <a:off x="10778500" y="4983275"/>
            <a:ext cx="812475" cy="454800"/>
          </a:xfrm>
          <a:prstGeom prst="flowChartInternalStorag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Search servers</a:t>
            </a:r>
            <a:endParaRPr sz="800"/>
          </a:p>
        </p:txBody>
      </p:sp>
      <p:sp>
        <p:nvSpPr>
          <p:cNvPr id="223" name="Google Shape;223;g3e1188e9378_0_14"/>
          <p:cNvSpPr/>
          <p:nvPr/>
        </p:nvSpPr>
        <p:spPr>
          <a:xfrm>
            <a:off x="10726050" y="5515550"/>
            <a:ext cx="959364" cy="506088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Cloud servers</a:t>
            </a:r>
            <a:endParaRPr sz="800"/>
          </a:p>
        </p:txBody>
      </p:sp>
      <p:sp>
        <p:nvSpPr>
          <p:cNvPr id="224" name="Google Shape;224;g3e1188e9378_0_14"/>
          <p:cNvSpPr/>
          <p:nvPr/>
        </p:nvSpPr>
        <p:spPr>
          <a:xfrm>
            <a:off x="9232225" y="4494475"/>
            <a:ext cx="776400" cy="30600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Local data servers</a:t>
            </a:r>
            <a:endParaRPr sz="800"/>
          </a:p>
        </p:txBody>
      </p:sp>
      <p:sp>
        <p:nvSpPr>
          <p:cNvPr id="225" name="Google Shape;225;g3e1188e9378_0_14"/>
          <p:cNvSpPr/>
          <p:nvPr/>
        </p:nvSpPr>
        <p:spPr>
          <a:xfrm>
            <a:off x="9232225" y="5057675"/>
            <a:ext cx="776400" cy="30600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Search engine</a:t>
            </a:r>
            <a:endParaRPr sz="800"/>
          </a:p>
        </p:txBody>
      </p:sp>
      <p:sp>
        <p:nvSpPr>
          <p:cNvPr id="226" name="Google Shape;226;g3e1188e9378_0_14"/>
          <p:cNvSpPr/>
          <p:nvPr/>
        </p:nvSpPr>
        <p:spPr>
          <a:xfrm>
            <a:off x="9232225" y="5615600"/>
            <a:ext cx="776400" cy="306000"/>
          </a:xfrm>
          <a:prstGeom prst="roundRect">
            <a:avLst>
              <a:gd name="adj" fmla="val 16667"/>
            </a:avLst>
          </a:prstGeom>
          <a:solidFill>
            <a:srgbClr val="E8EE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Cloud engine</a:t>
            </a:r>
            <a:endParaRPr sz="800"/>
          </a:p>
        </p:txBody>
      </p:sp>
      <p:cxnSp>
        <p:nvCxnSpPr>
          <p:cNvPr id="227" name="Google Shape;227;g3e1188e9378_0_14"/>
          <p:cNvCxnSpPr>
            <a:stCxn id="215" idx="3"/>
            <a:endCxn id="224" idx="1"/>
          </p:cNvCxnSpPr>
          <p:nvPr/>
        </p:nvCxnSpPr>
        <p:spPr>
          <a:xfrm>
            <a:off x="8668300" y="4647475"/>
            <a:ext cx="56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8" name="Google Shape;228;g3e1188e9378_0_14"/>
          <p:cNvCxnSpPr>
            <a:stCxn id="216" idx="3"/>
            <a:endCxn id="225" idx="1"/>
          </p:cNvCxnSpPr>
          <p:nvPr/>
        </p:nvCxnSpPr>
        <p:spPr>
          <a:xfrm>
            <a:off x="8668300" y="5210675"/>
            <a:ext cx="56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9" name="Google Shape;229;g3e1188e9378_0_14"/>
          <p:cNvCxnSpPr>
            <a:stCxn id="217" idx="3"/>
            <a:endCxn id="226" idx="1"/>
          </p:cNvCxnSpPr>
          <p:nvPr/>
        </p:nvCxnSpPr>
        <p:spPr>
          <a:xfrm>
            <a:off x="8668300" y="5768588"/>
            <a:ext cx="564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0" name="Google Shape;230;g3e1188e9378_0_14"/>
          <p:cNvCxnSpPr>
            <a:stCxn id="224" idx="3"/>
            <a:endCxn id="203" idx="2"/>
          </p:cNvCxnSpPr>
          <p:nvPr/>
        </p:nvCxnSpPr>
        <p:spPr>
          <a:xfrm>
            <a:off x="10008625" y="4647475"/>
            <a:ext cx="769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1" name="Google Shape;231;g3e1188e9378_0_14"/>
          <p:cNvCxnSpPr>
            <a:stCxn id="225" idx="3"/>
            <a:endCxn id="222" idx="1"/>
          </p:cNvCxnSpPr>
          <p:nvPr/>
        </p:nvCxnSpPr>
        <p:spPr>
          <a:xfrm>
            <a:off x="10008625" y="5210675"/>
            <a:ext cx="769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2" name="Google Shape;232;g3e1188e9378_0_14"/>
          <p:cNvCxnSpPr>
            <a:stCxn id="226" idx="3"/>
            <a:endCxn id="223" idx="2"/>
          </p:cNvCxnSpPr>
          <p:nvPr/>
        </p:nvCxnSpPr>
        <p:spPr>
          <a:xfrm>
            <a:off x="10008625" y="5768600"/>
            <a:ext cx="720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3" name="Google Shape;233;g3e1188e9378_0_14"/>
          <p:cNvSpPr/>
          <p:nvPr/>
        </p:nvSpPr>
        <p:spPr>
          <a:xfrm>
            <a:off x="8384875" y="131600"/>
            <a:ext cx="3410700" cy="3394800"/>
          </a:xfrm>
          <a:prstGeom prst="rect">
            <a:avLst/>
          </a:prstGeom>
          <a:noFill/>
          <a:ln w="9525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e1188e9378_0_14"/>
          <p:cNvSpPr txBox="1"/>
          <p:nvPr/>
        </p:nvSpPr>
        <p:spPr>
          <a:xfrm>
            <a:off x="10486550" y="3225313"/>
            <a:ext cx="1319100" cy="1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135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Single-agent system</a:t>
            </a:r>
            <a:endParaRPr sz="1100">
              <a:solidFill>
                <a:srgbClr val="1135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g3e1188e9378_0_14"/>
          <p:cNvSpPr/>
          <p:nvPr/>
        </p:nvSpPr>
        <p:spPr>
          <a:xfrm>
            <a:off x="4043400" y="3859700"/>
            <a:ext cx="7785900" cy="2631900"/>
          </a:xfrm>
          <a:prstGeom prst="rect">
            <a:avLst/>
          </a:prstGeom>
          <a:noFill/>
          <a:ln w="9525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e1188e9378_0_14"/>
          <p:cNvSpPr txBox="1"/>
          <p:nvPr/>
        </p:nvSpPr>
        <p:spPr>
          <a:xfrm>
            <a:off x="10575038" y="6190063"/>
            <a:ext cx="1319100" cy="1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135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Multi-agent system</a:t>
            </a:r>
            <a:endParaRPr sz="1100">
              <a:solidFill>
                <a:srgbClr val="11355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g3e1188e9378_0_14"/>
          <p:cNvSpPr/>
          <p:nvPr/>
        </p:nvSpPr>
        <p:spPr>
          <a:xfrm>
            <a:off x="977950" y="4099225"/>
            <a:ext cx="2686500" cy="1096500"/>
          </a:xfrm>
          <a:prstGeom prst="roundRect">
            <a:avLst>
              <a:gd name="adj" fmla="val 16667"/>
            </a:avLst>
          </a:prstGeom>
          <a:solidFill>
            <a:srgbClr val="1135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“Find contradiction across all uploaded papers”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/>
          <p:nvPr/>
        </p:nvSpPr>
        <p:spPr>
          <a:xfrm>
            <a:off x="548640" y="548640"/>
            <a:ext cx="109728" cy="109728"/>
          </a:xfrm>
          <a:prstGeom prst="ellipse">
            <a:avLst/>
          </a:prstGeom>
          <a:solidFill>
            <a:srgbClr val="F2A65A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822960" y="548640"/>
            <a:ext cx="109728" cy="109728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097280" y="548640"/>
            <a:ext cx="109728" cy="109728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1371600" y="548640"/>
            <a:ext cx="109728" cy="109728"/>
          </a:xfrm>
          <a:prstGeom prst="ellipse">
            <a:avLst/>
          </a:prstGeom>
          <a:solidFill>
            <a:srgbClr val="1C7293"/>
          </a:solidFill>
          <a:ln w="12700" cap="flat" cmpd="sng">
            <a:solidFill>
              <a:srgbClr val="0B1F3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-US" sz="32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Summary &amp; Contributions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40080" y="1463040"/>
            <a:ext cx="1371600" cy="45720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640080" y="1783080"/>
            <a:ext cx="5394960" cy="1691640"/>
          </a:xfrm>
          <a:prstGeom prst="rect">
            <a:avLst/>
          </a:prstGeom>
          <a:solidFill>
            <a:srgbClr val="11355C"/>
          </a:solidFill>
          <a:ln w="127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40080" y="1783080"/>
            <a:ext cx="5394960" cy="64008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868680" y="194767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Understanding the core RAG pipeline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914400" y="237744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chunking, embedding, vector database, retrieval (similarity search) and generation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RAG is not training but it gives LLM extra context </a:t>
            </a:r>
            <a:endParaRPr sz="1100">
              <a:solidFill>
                <a:srgbClr val="E8EE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6263640" y="1783080"/>
            <a:ext cx="5394960" cy="1691640"/>
          </a:xfrm>
          <a:prstGeom prst="rect">
            <a:avLst/>
          </a:prstGeom>
          <a:solidFill>
            <a:srgbClr val="11355C"/>
          </a:solidFill>
          <a:ln w="127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6263640" y="1783080"/>
            <a:ext cx="5394960" cy="64008"/>
          </a:xfrm>
          <a:prstGeom prst="rect">
            <a:avLst/>
          </a:prstGeom>
          <a:solidFill>
            <a:srgbClr val="2E8B57"/>
          </a:solidFill>
          <a:ln w="12700" cap="flat" cmpd="sng">
            <a:solidFill>
              <a:srgbClr val="2E8B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492240" y="194767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Practical exploration of RAG parameters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537960" y="237744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impact of: chunk size, chunk overlap, top-k retrieval and temperature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parameters directly affect retrieval quality and final answers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640080" y="3657600"/>
            <a:ext cx="5394960" cy="1691640"/>
          </a:xfrm>
          <a:prstGeom prst="rect">
            <a:avLst/>
          </a:prstGeom>
          <a:solidFill>
            <a:srgbClr val="11355C"/>
          </a:solidFill>
          <a:ln w="127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640080" y="3657600"/>
            <a:ext cx="5394960" cy="64008"/>
          </a:xfrm>
          <a:prstGeom prst="rect">
            <a:avLst/>
          </a:prstGeom>
          <a:solidFill>
            <a:srgbClr val="2E8B57"/>
          </a:solidFill>
          <a:ln w="12700" cap="flat" cmpd="sng">
            <a:solidFill>
              <a:srgbClr val="2E8B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868680" y="382219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Analysis of RAG Limitations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914400" y="425196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3 major categories of RAG limitations</a:t>
            </a:r>
            <a:endParaRPr sz="1100">
              <a:solidFill>
                <a:srgbClr val="E8EE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retrieval problems</a:t>
            </a:r>
            <a:endParaRPr sz="1100">
              <a:solidFill>
                <a:srgbClr val="E8EE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context problems</a:t>
            </a:r>
            <a:endParaRPr sz="1100">
              <a:solidFill>
                <a:srgbClr val="E8EE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Char char="○"/>
            </a:pPr>
            <a:r>
              <a:rPr lang="en-US" sz="11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reasoning problems</a:t>
            </a:r>
            <a:endParaRPr sz="1100">
              <a:solidFill>
                <a:srgbClr val="E8EE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Basic RAG systems struggle with complex multi-document reasoning tasks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6263640" y="3657600"/>
            <a:ext cx="5394960" cy="1691640"/>
          </a:xfrm>
          <a:prstGeom prst="rect">
            <a:avLst/>
          </a:prstGeom>
          <a:solidFill>
            <a:srgbClr val="11355C"/>
          </a:solidFill>
          <a:ln w="12700" cap="flat" cmpd="sng">
            <a:solidFill>
              <a:srgbClr val="1135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263640" y="3657600"/>
            <a:ext cx="5394960" cy="64008"/>
          </a:xfrm>
          <a:prstGeom prst="rect">
            <a:avLst/>
          </a:prstGeom>
          <a:solidFill>
            <a:srgbClr val="F2A65A"/>
          </a:solidFill>
          <a:ln w="12700" cap="flat" cmpd="sng">
            <a:solidFill>
              <a:srgbClr val="F2A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6492240" y="382219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lang="en-US" sz="1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RAG and agentic systems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6537960" y="4251960"/>
            <a:ext cx="48463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modern agentic and multi-agent systems axtend traditional RAG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E8EEF4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rgbClr val="E8EEF4"/>
                </a:solidFill>
                <a:latin typeface="Calibri"/>
                <a:ea typeface="Calibri"/>
                <a:cs typeface="Calibri"/>
                <a:sym typeface="Calibri"/>
              </a:rPr>
              <a:t>iterative retrieval, planning, query reformulation, specialized agents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640080" y="562356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600"/>
              <a:buFont typeface="Calibri"/>
              <a:buNone/>
            </a:pPr>
            <a:r>
              <a:rPr lang="en-US" sz="1600" b="1" i="1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Closing thought.  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is not about making LLM know everything but giving models access to the right information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11064240" y="6556248"/>
            <a:ext cx="731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2A65A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2A65A"/>
                </a:solidFill>
                <a:latin typeface="Calibri"/>
                <a:ea typeface="Calibri"/>
                <a:cs typeface="Calibri"/>
                <a:sym typeface="Calibri"/>
              </a:rPr>
              <a:t>8  / 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902</Words>
  <Application>Microsoft Macintosh PowerPoint</Application>
  <PresentationFormat>Širokoúhlá obrazovka</PresentationFormat>
  <Paragraphs>220</Paragraphs>
  <Slides>8</Slides>
  <Notes>8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3" baseType="lpstr">
      <vt:lpstr>Arial</vt:lpstr>
      <vt:lpstr>Calibri</vt:lpstr>
      <vt:lpstr>Georgia</vt:lpstr>
      <vt:lpstr>Times New Roman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Your name</dc:creator>
  <cp:lastModifiedBy>Preisler Tomáš</cp:lastModifiedBy>
  <cp:revision>1</cp:revision>
  <dcterms:created xsi:type="dcterms:W3CDTF">2026-05-10T19:40:04Z</dcterms:created>
  <dcterms:modified xsi:type="dcterms:W3CDTF">2026-05-12T15:30:34Z</dcterms:modified>
</cp:coreProperties>
</file>