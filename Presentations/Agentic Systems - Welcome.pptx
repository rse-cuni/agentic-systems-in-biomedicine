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e14ca31acc_0_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g3e14ca31acc_0_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g3e14ca31acc_0_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e14ca31acc_0_4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e14ca31acc_0_4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850797f0d_0_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a850797f0d_0_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850797f0d_0_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a850797f0d_0_1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14ca31acc_0_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e14ca31acc_0_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google.com/aclk?sa=L&amp;ai=DChsSEwjLi_iimLSUAxVpp4MHHW1xAF4YACICCAEQABoCZWY&amp;co=1&amp;cce=1&amp;sig=AOD64_1fmDCuEuW4rN0YgAUT3ouXeEk7XA&amp;q&amp;adurl&amp;ved=2ahUKEwiG0--imLSUAxXdhf0HHSjPBrYQ0Qx6BAgQEA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548640" y="548640"/>
            <a:ext cx="109800" cy="109800"/>
          </a:xfrm>
          <a:prstGeom prst="ellipse">
            <a:avLst/>
          </a:prstGeom>
          <a:solidFill>
            <a:srgbClr val="F2A65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822960" y="548640"/>
            <a:ext cx="109800" cy="109800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1097280" y="548640"/>
            <a:ext cx="109800" cy="109800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1371600" y="548640"/>
            <a:ext cx="109800" cy="109800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645920" y="548640"/>
            <a:ext cx="109800" cy="109800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40080" y="2011680"/>
            <a:ext cx="10881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lang="en-US" sz="4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Agentic Systems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2834640"/>
            <a:ext cx="10881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4800"/>
              <a:buFont typeface="Georgia"/>
              <a:buNone/>
            </a:pPr>
            <a:r>
              <a:rPr b="1" lang="en-US" sz="4800">
                <a:solidFill>
                  <a:srgbClr val="F2A65A"/>
                </a:solidFill>
                <a:latin typeface="Georgia"/>
                <a:ea typeface="Georgia"/>
                <a:cs typeface="Georgia"/>
                <a:sym typeface="Georgia"/>
              </a:rPr>
              <a:t>in Biomedicine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3703320"/>
            <a:ext cx="1088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2200"/>
              <a:buFont typeface="Georgia"/>
              <a:buNone/>
            </a:pPr>
            <a:r>
              <a:rPr i="1" lang="en-US" sz="2200">
                <a:solidFill>
                  <a:srgbClr val="E8EEF4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i="1" lang="en-US" sz="2200">
                <a:solidFill>
                  <a:srgbClr val="E8EEF4"/>
                </a:solidFill>
                <a:latin typeface="Georgia"/>
                <a:ea typeface="Georgia"/>
                <a:cs typeface="Georgia"/>
                <a:sym typeface="Georgia"/>
              </a:rPr>
              <a:t>n introduction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4434840"/>
            <a:ext cx="1371600" cy="4560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45720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400"/>
              <a:buFont typeface="Calibri"/>
              <a:buNone/>
            </a:pPr>
            <a:r>
              <a:rPr lang="en-US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603504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Introduction Session  •  Part 1 of the Workshop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Research Software Engineering (RSE)</a:t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i="1" lang="en-US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rse.cuni.cz</a:t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57200" y="1280160"/>
            <a:ext cx="5303520" cy="54864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1335024"/>
            <a:ext cx="5303520" cy="219456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228600" spcFirstLastPara="1" rIns="2286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2E7D5B"/>
                </a:solidFill>
                <a:latin typeface="Georgia"/>
                <a:ea typeface="Georgia"/>
                <a:cs typeface="Georgia"/>
                <a:sym typeface="Georgia"/>
              </a:rPr>
              <a:t>RSE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Lowers the barrier of researchers to computing tools and infrastructures</a:t>
            </a:r>
            <a:endParaRPr b="1" sz="1200"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Facilitates the access to HPC computing</a:t>
            </a:r>
            <a:endParaRPr sz="1200"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 consult and develop software solution for research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Domain expertise (Bioinformatics, HPC, Digital Humanities, etc)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943600" y="1280160"/>
            <a:ext cx="5303520" cy="54864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943600" y="1335026"/>
            <a:ext cx="5303400" cy="37119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228600" spcFirstLastPara="1" rIns="2286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2A65A"/>
                </a:solidFill>
                <a:latin typeface="Georgia"/>
                <a:ea typeface="Georgia"/>
                <a:cs typeface="Georgia"/>
                <a:sym typeface="Georgia"/>
              </a:rPr>
              <a:t>Typical use cases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 need to </a:t>
            </a: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automate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processing of medical imaging data (e.g. volumetry, segmentation).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 need to use a </a:t>
            </a: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specialized infrastructure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for working with sensitive data (SensitiveCloud) but I need assistance setting it up.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 am preparing a </a:t>
            </a: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research proposal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with a computing component, but I need to consult my ideas or requirements.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 need </a:t>
            </a: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help designing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 online platform for collection of research data from clinicians.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 need to d</a:t>
            </a: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eploy my software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on different computing infrastructures.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need to help with setting up multi-agentic workflow </a:t>
            </a:r>
            <a:endParaRPr b="1"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Agentic Systems in Biomedicine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2 / 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457200" y="274320"/>
            <a:ext cx="1124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0B1F3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Agents and agentic systems</a:t>
            </a:r>
            <a:endParaRPr b="1" sz="2800">
              <a:solidFill>
                <a:srgbClr val="0B1F3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Georgia"/>
              <a:buNone/>
            </a:pPr>
            <a:r>
              <a:t/>
            </a:r>
            <a:endParaRPr b="1" sz="2800">
              <a:solidFill>
                <a:srgbClr val="0B1F3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57200" y="822960"/>
            <a:ext cx="1124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457200" y="1280160"/>
            <a:ext cx="5303400" cy="549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57200" y="1335025"/>
            <a:ext cx="5303400" cy="37119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228600" spcFirstLastPara="1" rIns="228600" wrap="square" tIns="18287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AI agent</a:t>
            </a:r>
            <a:r>
              <a:rPr lang="en-US" sz="1200">
                <a:solidFill>
                  <a:schemeClr val="dk1"/>
                </a:solidFill>
              </a:rPr>
              <a:t>: a system that uses a language model to pursue a goal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It can </a:t>
            </a:r>
            <a:r>
              <a:rPr b="1" lang="en-US" sz="1200">
                <a:solidFill>
                  <a:schemeClr val="dk1"/>
                </a:solidFill>
              </a:rPr>
              <a:t>plan steps</a:t>
            </a:r>
            <a:r>
              <a:rPr lang="en-US" sz="1200">
                <a:solidFill>
                  <a:schemeClr val="dk1"/>
                </a:solidFill>
              </a:rPr>
              <a:t>, </a:t>
            </a:r>
            <a:r>
              <a:rPr b="1" lang="en-US" sz="1200">
                <a:solidFill>
                  <a:schemeClr val="dk1"/>
                </a:solidFill>
              </a:rPr>
              <a:t>choose tools</a:t>
            </a:r>
            <a:r>
              <a:rPr lang="en-US" sz="1200">
                <a:solidFill>
                  <a:schemeClr val="dk1"/>
                </a:solidFill>
              </a:rPr>
              <a:t>, </a:t>
            </a:r>
            <a:r>
              <a:rPr b="1" lang="en-US" sz="1200">
                <a:solidFill>
                  <a:schemeClr val="dk1"/>
                </a:solidFill>
              </a:rPr>
              <a:t>execute actions</a:t>
            </a:r>
            <a:r>
              <a:rPr lang="en-US" sz="1200">
                <a:solidFill>
                  <a:schemeClr val="dk1"/>
                </a:solidFill>
              </a:rPr>
              <a:t>, and </a:t>
            </a:r>
            <a:r>
              <a:rPr b="1" lang="en-US" sz="1200">
                <a:solidFill>
                  <a:schemeClr val="dk1"/>
                </a:solidFill>
              </a:rPr>
              <a:t>use feedback</a:t>
            </a:r>
            <a:r>
              <a:rPr lang="en-US" sz="1200">
                <a:solidFill>
                  <a:schemeClr val="dk1"/>
                </a:solidFill>
              </a:rPr>
              <a:t> from the environment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Typical tools: code execution, file access, databases, web search, APIs, workflow managers, HPC/Slurm jobs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Agentic system</a:t>
            </a:r>
            <a:r>
              <a:rPr lang="en-US" sz="1200">
                <a:solidFill>
                  <a:schemeClr val="dk1"/>
                </a:solidFill>
              </a:rPr>
              <a:t>: an architecture where one or more agents interact with tools, data, users, and each other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E7D5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943600" y="1280160"/>
            <a:ext cx="5303400" cy="549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5943600" y="1335026"/>
            <a:ext cx="5303400" cy="37119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228600" spcFirstLastPara="1" rIns="228600" wrap="square" tIns="18287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</a:rPr>
              <a:t>A</a:t>
            </a:r>
            <a:r>
              <a:rPr lang="en-US" sz="1200">
                <a:solidFill>
                  <a:schemeClr val="dk1"/>
                </a:solidFill>
              </a:rPr>
              <a:t>n agent can </a:t>
            </a:r>
            <a:r>
              <a:rPr b="1" lang="en-US" sz="1200">
                <a:solidFill>
                  <a:schemeClr val="dk1"/>
                </a:solidFill>
              </a:rPr>
              <a:t>act</a:t>
            </a:r>
            <a:r>
              <a:rPr lang="en-US" sz="1200">
                <a:solidFill>
                  <a:schemeClr val="dk1"/>
                </a:solidFill>
              </a:rPr>
              <a:t>. Chatbot generates text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</a:rPr>
              <a:t>Automate complex workflows, </a:t>
            </a:r>
            <a:r>
              <a:rPr b="1" lang="en-US" sz="1200">
                <a:solidFill>
                  <a:schemeClr val="dk1"/>
                </a:solidFill>
              </a:rPr>
              <a:t>connect reasoning with computation</a:t>
            </a:r>
            <a:r>
              <a:rPr lang="en-US" sz="1200">
                <a:solidFill>
                  <a:schemeClr val="dk1"/>
                </a:solidFill>
              </a:rPr>
              <a:t>, and reduce manual orchestration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</a:rPr>
              <a:t>Main risk: incorrect actions, unsafe tool use, data leakage, uncontrolled side effects (e.g. </a:t>
            </a:r>
            <a:r>
              <a:rPr i="1" lang="en-US" sz="1200">
                <a:solidFill>
                  <a:schemeClr val="dk1"/>
                </a:solidFill>
              </a:rPr>
              <a:t>“delete files after you finish”</a:t>
            </a:r>
            <a:r>
              <a:rPr lang="en-US" sz="1200">
                <a:solidFill>
                  <a:schemeClr val="dk1"/>
                </a:solidFill>
              </a:rPr>
              <a:t>),Safe deployment requires </a:t>
            </a:r>
            <a:r>
              <a:rPr b="1" lang="en-US" sz="1200">
                <a:solidFill>
                  <a:schemeClr val="dk1"/>
                </a:solidFill>
              </a:rPr>
              <a:t>bounded permissions</a:t>
            </a:r>
            <a:r>
              <a:rPr lang="en-US" sz="1200">
                <a:solidFill>
                  <a:schemeClr val="dk1"/>
                </a:solidFill>
              </a:rPr>
              <a:t>, logging, human approval for critical actions, reproducibility, and traceability</a:t>
            </a:r>
            <a:endParaRPr b="1" sz="1200">
              <a:solidFill>
                <a:srgbClr val="F2A65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0" y="6492240"/>
            <a:ext cx="12192000" cy="3657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57200" y="6492240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Agentic Systems in Biomedicine</a:t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10515600" y="6492240"/>
            <a:ext cx="121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2 / 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Example Dataset </a:t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1,000 synthetic patient records with 7 variables and a built-in confounder</a:t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457200" y="1280160"/>
            <a:ext cx="5486400" cy="493776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228600" spcFirstLastPara="1" rIns="228600" wrap="square" tIns="182875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Variables include </a:t>
            </a:r>
            <a:r>
              <a:rPr b="1"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sex, age, episodes, infarction, antihypertensives, naive CD4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Roughly balanced by sex, no missing values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Built-in patterns: </a:t>
            </a:r>
            <a:r>
              <a:rPr b="1"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naive CD4 decreases with age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antihypertensive use increases with age, infarction more frequent in men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Main question: </a:t>
            </a:r>
            <a:r>
              <a:rPr b="1"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Do antihypertensives affect naive CD4 T-cell levels?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naive comparison suggests an effect, but </a:t>
            </a:r>
            <a:r>
              <a:rPr b="1" lang="en-US" sz="13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age is the key confounder</a:t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Agentic Systems in Biomedicine</a:t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3 / 6</a:t>
            </a:r>
            <a:endParaRPr/>
          </a:p>
        </p:txBody>
      </p:sp>
      <p:pic>
        <p:nvPicPr>
          <p:cNvPr descr="Obsah obrázku text, snímek obrazovky, Písmo, dokument&#10;&#10;Obsah generovaný pomocí AI může být nesprávný."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5460" y="1280160"/>
            <a:ext cx="6136540" cy="337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Data Upload + Summary</a:t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LLM inspects the uploaded table, identifies variable types, and reports a clean summary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Agentic Systems in Biomedicine</a:t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4 / 6</a:t>
            </a:r>
            <a:endParaRPr/>
          </a:p>
        </p:txBody>
      </p:sp>
      <p:pic>
        <p:nvPicPr>
          <p:cNvPr descr="Obsah obrázku text, snímek obrazovky, Písmo&#10;&#10;Obsah generovaný pomocí AI může být nesprávný."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1061749"/>
            <a:ext cx="8677585" cy="5285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Research Question + Initial Analysis</a:t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User asks about antihypertensives and CD4 levels — the model runs crude + adjusted analyses</a:t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Agentic Systems in Biomedicine</a:t>
            </a:r>
            <a:endParaRPr/>
          </a:p>
        </p:txBody>
      </p:sp>
      <p:sp>
        <p:nvSpPr>
          <p:cNvPr id="78" name="Google Shape;78;p8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5 / 6</a:t>
            </a:r>
            <a:endParaRPr/>
          </a:p>
        </p:txBody>
      </p:sp>
      <p:pic>
        <p:nvPicPr>
          <p:cNvPr descr="Obsah obrázku text, snímek obrazovky, Písmo, dokument&#10;&#10;Obsah generovaný pomocí AI může být nesprávný." id="79" name="Google Shape;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772400" cy="5330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Detailed Results + Interpretation</a:t>
            </a:r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After adjustment for age and sex, the apparent treatment effect vanishes — age is the confounder</a:t>
            </a:r>
            <a:endParaRPr/>
          </a:p>
        </p:txBody>
      </p:sp>
      <p:sp>
        <p:nvSpPr>
          <p:cNvPr id="86" name="Google Shape;86;p9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457200" y="6492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Agentic Systems in Biomedicine</a:t>
            </a:r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10515600" y="649224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6 / 6</a:t>
            </a:r>
            <a:endParaRPr/>
          </a:p>
        </p:txBody>
      </p:sp>
      <p:pic>
        <p:nvPicPr>
          <p:cNvPr descr="Obsah obrázku text, dokument, snímek obrazovky, dopis&#10;&#10;Obsah generovaný pomocí AI může být nesprávný." id="89" name="Google Shape;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6391650" cy="5199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/>
          <p:nvPr/>
        </p:nvSpPr>
        <p:spPr>
          <a:xfrm>
            <a:off x="457200" y="274320"/>
            <a:ext cx="1124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Agent-like Behavior of standard LLM</a:t>
            </a:r>
            <a:endParaRPr/>
          </a:p>
        </p:txBody>
      </p:sp>
      <p:sp>
        <p:nvSpPr>
          <p:cNvPr id="95" name="Google Shape;95;p10"/>
          <p:cNvSpPr/>
          <p:nvPr/>
        </p:nvSpPr>
        <p:spPr>
          <a:xfrm>
            <a:off x="457200" y="822960"/>
            <a:ext cx="1124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i="1" lang="en-US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There’s nothing new under the sun</a:t>
            </a:r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457200" y="1280160"/>
            <a:ext cx="5303400" cy="549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457200" y="1335024"/>
            <a:ext cx="5303400" cy="21945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228600" spcFirstLastPara="1" rIns="2286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2E7D5B"/>
                </a:solidFill>
                <a:latin typeface="Georgia"/>
                <a:ea typeface="Georgia"/>
                <a:cs typeface="Georgia"/>
                <a:sym typeface="Georgia"/>
              </a:rPr>
              <a:t>Capabilities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Can analyze uploaded data and answer follow-up questions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Can generate code, run reasoning steps, and revise conclusions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Can detect simple statistical pitfalls, such as confounding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Basically </a:t>
            </a: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it can do things</a:t>
            </a:r>
            <a:endParaRPr b="1"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5943600" y="1280160"/>
            <a:ext cx="5303400" cy="549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5943600" y="1335024"/>
            <a:ext cx="5303400" cy="21945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228600" spcFirstLastPara="1" rIns="2286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2A65A"/>
                </a:solidFill>
                <a:latin typeface="Georgia"/>
                <a:ea typeface="Georgia"/>
                <a:cs typeface="Georgia"/>
                <a:sym typeface="Georgia"/>
              </a:rPr>
              <a:t>Limitations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Limited context over longer workflows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Cannot reliably handle large datasets or direct hardware access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Weak persistent memory and no true agent-to-agent coordination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true multi-agentic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capabilities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457200" y="3749040"/>
            <a:ext cx="11247000" cy="3657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0" lIns="228600" spcFirstLastPara="1" rIns="2286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SYSTEM PROMPT USED FOR THE DEMO</a:t>
            </a:r>
            <a:endParaRPr/>
          </a:p>
        </p:txBody>
      </p:sp>
      <p:pic>
        <p:nvPicPr>
          <p:cNvPr id="101" name="Google Shape;1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114800"/>
            <a:ext cx="7740504" cy="2011680"/>
          </a:xfrm>
          <a:prstGeom prst="rect">
            <a:avLst/>
          </a:prstGeom>
          <a:noFill/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10"/>
          <p:cNvSpPr/>
          <p:nvPr/>
        </p:nvSpPr>
        <p:spPr>
          <a:xfrm>
            <a:off x="0" y="6492240"/>
            <a:ext cx="12192000" cy="3657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457200" y="6492240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Agentic Systems in Biomedicine</a:t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10515600" y="6492240"/>
            <a:ext cx="121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2 / 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>
            <a:off x="457200" y="274320"/>
            <a:ext cx="1124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Commercial</a:t>
            </a:r>
            <a:r>
              <a:rPr b="1" lang="en-US" sz="2800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 Solutions </a:t>
            </a:r>
            <a:r>
              <a:rPr b="1" lang="en-US" sz="2800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Exist</a:t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>
            <a:off x="457200" y="822960"/>
            <a:ext cx="1124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0" y="6492240"/>
            <a:ext cx="12192000" cy="3657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457200" y="6492240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Agentic Systems in Biomedicine</a:t>
            </a:r>
            <a:endParaRPr/>
          </a:p>
        </p:txBody>
      </p:sp>
      <p:sp>
        <p:nvSpPr>
          <p:cNvPr id="113" name="Google Shape;113;p11"/>
          <p:cNvSpPr/>
          <p:nvPr/>
        </p:nvSpPr>
        <p:spPr>
          <a:xfrm>
            <a:off x="10515600" y="6492240"/>
            <a:ext cx="121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6 / 6</a:t>
            </a:r>
            <a:endParaRPr/>
          </a:p>
        </p:txBody>
      </p:sp>
      <p:sp>
        <p:nvSpPr>
          <p:cNvPr id="114" name="Google Shape;114;p11"/>
          <p:cNvSpPr/>
          <p:nvPr/>
        </p:nvSpPr>
        <p:spPr>
          <a:xfrm>
            <a:off x="457200" y="1335024"/>
            <a:ext cx="5303400" cy="21945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228600" spcFirstLastPara="1" rIns="2286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2E7D5B"/>
                </a:solidFill>
                <a:latin typeface="Georgia"/>
                <a:ea typeface="Georgia"/>
                <a:cs typeface="Georgia"/>
                <a:sym typeface="Georgia"/>
              </a:rPr>
              <a:t>An Example: Kosmos AI for Scientific R&amp;D </a:t>
            </a:r>
            <a:endParaRPr b="1" sz="1600">
              <a:solidFill>
                <a:srgbClr val="2E7D5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2E7D5B"/>
                </a:solidFill>
                <a:latin typeface="Georgia"/>
                <a:ea typeface="Georgia"/>
                <a:cs typeface="Georgia"/>
                <a:sym typeface="Georgia"/>
              </a:rPr>
              <a:t>(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Edison Scientific www.edisonscientific.com</a:t>
            </a:r>
            <a:r>
              <a:rPr b="1" lang="en-US" sz="1600">
                <a:solidFill>
                  <a:srgbClr val="2E7D5B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600"/>
              <a:buFont typeface="Georgia"/>
              <a:buNone/>
            </a:pPr>
            <a:r>
              <a:t/>
            </a:r>
            <a:endParaRPr b="1" sz="1600">
              <a:solidFill>
                <a:srgbClr val="2E7D5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Installs complex tools, analyzes data, etc.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Spawns multiple agents working on subproblems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Integrates the results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Tests multiple hypotheses at the same time 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5827875" y="1335024"/>
            <a:ext cx="5303400" cy="21945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228600" spcFirstLastPara="1" rIns="2286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2E7D5B"/>
                </a:solidFill>
                <a:latin typeface="Georgia"/>
                <a:ea typeface="Georgia"/>
                <a:cs typeface="Georgia"/>
                <a:sym typeface="Georgia"/>
              </a:rPr>
              <a:t>Limitations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Expensive (difficult to trains oneself to prompt correctly)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Limited data storage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i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i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i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could we run something like that  on our own (university) HW…</a:t>
            </a:r>
            <a:endParaRPr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457200" y="274320"/>
            <a:ext cx="1124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Agents can be dangerous</a:t>
            </a:r>
            <a:endParaRPr/>
          </a:p>
        </p:txBody>
      </p:sp>
      <p:sp>
        <p:nvSpPr>
          <p:cNvPr id="121" name="Google Shape;121;p12"/>
          <p:cNvSpPr/>
          <p:nvPr/>
        </p:nvSpPr>
        <p:spPr>
          <a:xfrm>
            <a:off x="457200" y="822950"/>
            <a:ext cx="5303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i="1" lang="en-US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 mean this as an earnest warning, not just a disclaimer: be very cautious what you allow an agent to do!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0" y="6492240"/>
            <a:ext cx="12192000" cy="3657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457200" y="6492240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Agentic Systems in Biomedicine</a:t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10515600" y="6492240"/>
            <a:ext cx="121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6 / 6</a:t>
            </a:r>
            <a:endParaRPr/>
          </a:p>
        </p:txBody>
      </p:sp>
      <p:sp>
        <p:nvSpPr>
          <p:cNvPr id="125" name="Google Shape;125;p12"/>
          <p:cNvSpPr/>
          <p:nvPr/>
        </p:nvSpPr>
        <p:spPr>
          <a:xfrm>
            <a:off x="457200" y="1335024"/>
            <a:ext cx="5303400" cy="21945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228600" spcFirstLastPara="1" rIns="2286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Basically an agent with </a:t>
            </a:r>
            <a:r>
              <a:rPr b="1" lang="en-US" sz="16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access</a:t>
            </a:r>
            <a:r>
              <a:rPr b="1" lang="en-US" sz="16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 to a tool like </a:t>
            </a:r>
            <a:r>
              <a:rPr b="1" i="1" lang="en-US" sz="16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Python interpreter </a:t>
            </a:r>
            <a:r>
              <a:rPr b="1" lang="en-US" sz="16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can do whatever the user can do!</a:t>
            </a:r>
            <a:endParaRPr b="1" sz="1600">
              <a:solidFill>
                <a:srgbClr val="2E7D5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Delete files (like…. all of them)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Send information outside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Delete databases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Sending emails (receiving email, clicking, double-clicking,...)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457200" y="3829674"/>
            <a:ext cx="5303400" cy="21945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228600" spcFirstLastPara="1" rIns="2286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2E7D5B"/>
                </a:solidFill>
                <a:latin typeface="Georgia"/>
                <a:ea typeface="Georgia"/>
                <a:cs typeface="Georgia"/>
                <a:sym typeface="Georgia"/>
              </a:rPr>
              <a:t>(</a:t>
            </a:r>
            <a:r>
              <a:rPr b="1" lang="en-US" sz="1600">
                <a:solidFill>
                  <a:srgbClr val="2E7D5B"/>
                </a:solidFill>
                <a:latin typeface="Georgia"/>
                <a:ea typeface="Georgia"/>
                <a:cs typeface="Georgia"/>
                <a:sym typeface="Georgia"/>
              </a:rPr>
              <a:t>Nonexhaustive</a:t>
            </a:r>
            <a:r>
              <a:rPr b="1" lang="en-US" sz="1600">
                <a:solidFill>
                  <a:srgbClr val="2E7D5B"/>
                </a:solidFill>
                <a:latin typeface="Georgia"/>
                <a:ea typeface="Georgia"/>
                <a:cs typeface="Georgia"/>
                <a:sym typeface="Georgia"/>
              </a:rPr>
              <a:t>) Warnings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Beware of third-party solutions (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fraudulent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MCP servers, frameworks, pipelines,...)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the (user’s)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permission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and access rights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Experiment in a safe environment - e</a:t>
            </a:r>
            <a:r>
              <a:rPr i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.g. create a new user with limited access</a:t>
            </a:r>
            <a:endParaRPr i="1"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 not give access to the CLI or interpreters lightly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Sandbox whenever possible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5827875" y="5899975"/>
            <a:ext cx="5303400" cy="5121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228600" spcFirstLastPara="1" rIns="2286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B85042"/>
                </a:solidFill>
                <a:latin typeface="Georgia"/>
                <a:ea typeface="Georgia"/>
                <a:cs typeface="Georgia"/>
                <a:sym typeface="Georgia"/>
              </a:rPr>
              <a:t>RSE - rse@cuni.cz</a:t>
            </a:r>
            <a:endParaRPr b="1" sz="1600">
              <a:solidFill>
                <a:srgbClr val="B8504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8" name="Google Shape;12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500" y="83283"/>
            <a:ext cx="4447774" cy="469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2"/>
          <p:cNvSpPr txBox="1"/>
          <p:nvPr/>
        </p:nvSpPr>
        <p:spPr>
          <a:xfrm>
            <a:off x="6302600" y="4720900"/>
            <a:ext cx="4828800" cy="1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9999"/>
                </a:solidFill>
              </a:rPr>
              <a:t>“It only took nine seconds for an AI coding agent gone rogue to delete a company’s entire production database and its backups, according to its founder.” </a:t>
            </a:r>
            <a:endParaRPr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999999"/>
                </a:solidFill>
              </a:rPr>
              <a:t>The Guardian</a:t>
            </a:r>
            <a:r>
              <a:rPr lang="en-US">
                <a:solidFill>
                  <a:srgbClr val="999999"/>
                </a:solidFill>
              </a:rPr>
              <a:t> (2026)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tiv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