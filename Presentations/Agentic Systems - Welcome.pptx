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g3e14ca31acc_0_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g3e14ca31acc_0_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g3e14ca31acc_0_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e14ca31acc_0_4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g3e14ca31acc_0_44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3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4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6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6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850797f0d_0_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a850797f0d_0_3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a850797f0d_0_17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g3a850797f0d_0_17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e14ca31acc_0_6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g3e14ca31acc_0_6:notes"/>
          <p:cNvSpPr/>
          <p:nvPr>
            <p:ph idx="2" type="sldImg"/>
          </p:nvPr>
        </p:nvSpPr>
        <p:spPr>
          <a:xfrm>
            <a:off x="1143225" y="914400"/>
            <a:ext cx="45723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www.google.com/aclk?sa=L&amp;ai=DChsSEwjLi_iimLSUAxVpp4MHHW1xAF4YACICCAEQABoCZWY&amp;co=1&amp;cce=1&amp;sig=AOD64_1fmDCuEuW4rN0YgAUT3ouXeEk7XA&amp;q&amp;adurl&amp;ved=2ahUKEwiG0--imLSUAxXdhf0HHSjPBrYQ0Qx6BAgQEAE" TargetMode="External"/><Relationship Id="rId4" Type="http://schemas.openxmlformats.org/officeDocument/2006/relationships/hyperlink" Target="https://galagos.ai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F3A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548640" y="548640"/>
            <a:ext cx="109800" cy="109800"/>
          </a:xfrm>
          <a:prstGeom prst="ellipse">
            <a:avLst/>
          </a:prstGeom>
          <a:solidFill>
            <a:srgbClr val="F2A65A"/>
          </a:solidFill>
          <a:ln cap="flat" cmpd="sng" w="12700">
            <a:solidFill>
              <a:srgbClr val="0B1F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822960" y="548640"/>
            <a:ext cx="109800" cy="1098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0B1F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1097280" y="548640"/>
            <a:ext cx="109800" cy="1098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0B1F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1371600" y="548640"/>
            <a:ext cx="109800" cy="1098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0B1F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1645920" y="548640"/>
            <a:ext cx="109800" cy="1098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0B1F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640080" y="2011680"/>
            <a:ext cx="10881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Georgia"/>
              <a:buNone/>
            </a:pPr>
            <a:r>
              <a:rPr b="1" lang="en-US" sz="48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Agentic Systems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640080" y="2834640"/>
            <a:ext cx="10881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4800"/>
              <a:buFont typeface="Georgia"/>
              <a:buNone/>
            </a:pPr>
            <a:r>
              <a:rPr b="1" lang="en-US" sz="4800">
                <a:solidFill>
                  <a:srgbClr val="F2A65A"/>
                </a:solidFill>
                <a:latin typeface="Georgia"/>
                <a:ea typeface="Georgia"/>
                <a:cs typeface="Georgia"/>
                <a:sym typeface="Georgia"/>
              </a:rPr>
              <a:t>in Biomedicine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40080" y="3703320"/>
            <a:ext cx="108813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2200"/>
              <a:buFont typeface="Georgia"/>
              <a:buNone/>
            </a:pPr>
            <a:r>
              <a:rPr i="1" lang="en-US" sz="2200">
                <a:solidFill>
                  <a:srgbClr val="E8EEF4"/>
                </a:solidFill>
                <a:latin typeface="Georgia"/>
                <a:ea typeface="Georgia"/>
                <a:cs typeface="Georgia"/>
                <a:sym typeface="Georgia"/>
              </a:rPr>
              <a:t>A</a:t>
            </a:r>
            <a:r>
              <a:rPr i="1" lang="en-US" sz="2200">
                <a:solidFill>
                  <a:srgbClr val="E8EEF4"/>
                </a:solidFill>
                <a:latin typeface="Georgia"/>
                <a:ea typeface="Georgia"/>
                <a:cs typeface="Georgia"/>
                <a:sym typeface="Georgia"/>
              </a:rPr>
              <a:t>n introduction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40080" y="4434840"/>
            <a:ext cx="1371600" cy="45600"/>
          </a:xfrm>
          <a:prstGeom prst="rect">
            <a:avLst/>
          </a:prstGeom>
          <a:solidFill>
            <a:srgbClr val="F2A65A"/>
          </a:solidFill>
          <a:ln cap="flat" cmpd="sng" w="12700">
            <a:solidFill>
              <a:srgbClr val="F2A6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40080" y="4572000"/>
            <a:ext cx="7315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400"/>
              <a:buFont typeface="Calibri"/>
              <a:buNone/>
            </a:pPr>
            <a:r>
              <a:rPr lang="en-US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RSE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640080" y="6035040"/>
            <a:ext cx="731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C6B7A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5C6B7A"/>
                </a:solidFill>
                <a:latin typeface="Calibri"/>
                <a:ea typeface="Calibri"/>
                <a:cs typeface="Calibri"/>
                <a:sym typeface="Calibri"/>
              </a:rPr>
              <a:t>Introduction Session  •  Part 1 of the Workshop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Research Software Engineering (RSE)</a:t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rse.cuni.cz</a:t>
            </a:r>
            <a:endParaRPr/>
          </a:p>
        </p:txBody>
      </p:sp>
      <p:sp>
        <p:nvSpPr>
          <p:cNvPr id="29" name="Google Shape;29;p4"/>
          <p:cNvSpPr/>
          <p:nvPr/>
        </p:nvSpPr>
        <p:spPr>
          <a:xfrm>
            <a:off x="457200" y="1280160"/>
            <a:ext cx="5303520" cy="54864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457200" y="1335024"/>
            <a:ext cx="5303520" cy="219456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RSE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Lowers the barrier of researchers to computing tools and infrastructures</a:t>
            </a:r>
            <a:endParaRPr b="1" sz="1200"/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Facilitates the access to HPC computing</a:t>
            </a:r>
            <a:endParaRPr sz="1200"/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We consult and develop software solution for research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Domain expertise (Bioinformatics, HPC, Digital Humanities, etc)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943600" y="1280160"/>
            <a:ext cx="5303520" cy="54864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5943600" y="1335026"/>
            <a:ext cx="5303400" cy="37119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F2A65A"/>
                </a:solidFill>
                <a:latin typeface="Georgia"/>
                <a:ea typeface="Georgia"/>
                <a:cs typeface="Georgia"/>
                <a:sym typeface="Georgia"/>
              </a:rPr>
              <a:t>Typical use cases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 need to 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automate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processing of medical imaging data (e.g. volumetry, segmentation).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 need to use a 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specialized infrastructure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for working with sensitive data (SensitiveCloud) but I need assistance setting it up.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 am preparing a 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research proposal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with a computing component, but I need to consult my ideas or requirements.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 need 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help designing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an online platform for collection of research data from clinicians.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 need to d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eploy my software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on different computing infrastructures.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need to help with setting up multi-agentic workflow </a:t>
            </a:r>
            <a:endParaRPr b="1"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2 / 10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"/>
          <p:cNvSpPr/>
          <p:nvPr/>
        </p:nvSpPr>
        <p:spPr>
          <a:xfrm>
            <a:off x="457200" y="27432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2800">
              <a:solidFill>
                <a:srgbClr val="0B1F3A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Agents and agentic systems</a:t>
            </a:r>
            <a:endParaRPr b="1" sz="2800">
              <a:solidFill>
                <a:srgbClr val="0B1F3A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t/>
            </a:r>
            <a:endParaRPr b="1" sz="2800">
              <a:solidFill>
                <a:srgbClr val="0B1F3A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457200" y="822960"/>
            <a:ext cx="1124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/>
          <p:nvPr/>
        </p:nvSpPr>
        <p:spPr>
          <a:xfrm>
            <a:off x="457200" y="1280160"/>
            <a:ext cx="5303400" cy="54900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457200" y="1335025"/>
            <a:ext cx="5303400" cy="37119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AI agent</a:t>
            </a:r>
            <a:r>
              <a:rPr lang="en-US" sz="1200">
                <a:solidFill>
                  <a:schemeClr val="dk1"/>
                </a:solidFill>
              </a:rPr>
              <a:t>: a system that uses a language model to pursue a goal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It can </a:t>
            </a:r>
            <a:r>
              <a:rPr b="1" lang="en-US" sz="1200">
                <a:solidFill>
                  <a:schemeClr val="dk1"/>
                </a:solidFill>
              </a:rPr>
              <a:t>plan steps</a:t>
            </a:r>
            <a:r>
              <a:rPr lang="en-US" sz="1200">
                <a:solidFill>
                  <a:schemeClr val="dk1"/>
                </a:solidFill>
              </a:rPr>
              <a:t>, </a:t>
            </a:r>
            <a:r>
              <a:rPr b="1" lang="en-US" sz="1200">
                <a:solidFill>
                  <a:schemeClr val="dk1"/>
                </a:solidFill>
              </a:rPr>
              <a:t>choose tools</a:t>
            </a:r>
            <a:r>
              <a:rPr lang="en-US" sz="1200">
                <a:solidFill>
                  <a:schemeClr val="dk1"/>
                </a:solidFill>
              </a:rPr>
              <a:t>, </a:t>
            </a:r>
            <a:r>
              <a:rPr b="1" lang="en-US" sz="1200">
                <a:solidFill>
                  <a:schemeClr val="dk1"/>
                </a:solidFill>
              </a:rPr>
              <a:t>execute actions</a:t>
            </a:r>
            <a:r>
              <a:rPr lang="en-US" sz="1200">
                <a:solidFill>
                  <a:schemeClr val="dk1"/>
                </a:solidFill>
              </a:rPr>
              <a:t>, and </a:t>
            </a:r>
            <a:r>
              <a:rPr b="1" lang="en-US" sz="1200">
                <a:solidFill>
                  <a:schemeClr val="dk1"/>
                </a:solidFill>
              </a:rPr>
              <a:t>use feedback</a:t>
            </a:r>
            <a:r>
              <a:rPr lang="en-US" sz="1200">
                <a:solidFill>
                  <a:schemeClr val="dk1"/>
                </a:solidFill>
              </a:rPr>
              <a:t> from the environment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sz="1200">
                <a:solidFill>
                  <a:schemeClr val="dk1"/>
                </a:solidFill>
              </a:rPr>
              <a:t>Typical tools: code execution, file access, databases, web search, APIs, workflow managers, HPC/Slurm jobs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Agentic system</a:t>
            </a:r>
            <a:r>
              <a:rPr lang="en-US" sz="1200">
                <a:solidFill>
                  <a:schemeClr val="dk1"/>
                </a:solidFill>
              </a:rPr>
              <a:t>: an architecture where one or more agents interact with tools, data, users, and each other</a:t>
            </a:r>
            <a:endParaRPr sz="1200">
              <a:solidFill>
                <a:schemeClr val="dk1"/>
              </a:solidFill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2E7D5B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5943600" y="1280160"/>
            <a:ext cx="5303400" cy="54900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5943600" y="1335026"/>
            <a:ext cx="5303400" cy="37119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chemeClr val="dk1"/>
                </a:solidFill>
              </a:rPr>
              <a:t>A</a:t>
            </a:r>
            <a:r>
              <a:rPr lang="en-US" sz="1200">
                <a:solidFill>
                  <a:schemeClr val="dk1"/>
                </a:solidFill>
              </a:rPr>
              <a:t>n agent can </a:t>
            </a:r>
            <a:r>
              <a:rPr b="1" lang="en-US" sz="1200">
                <a:solidFill>
                  <a:schemeClr val="dk1"/>
                </a:solidFill>
              </a:rPr>
              <a:t>act</a:t>
            </a:r>
            <a:r>
              <a:rPr lang="en-US" sz="1200">
                <a:solidFill>
                  <a:schemeClr val="dk1"/>
                </a:solidFill>
              </a:rPr>
              <a:t>. Chatbot generates text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chemeClr val="dk1"/>
                </a:solidFill>
              </a:rPr>
              <a:t>Automate complex workflows, </a:t>
            </a:r>
            <a:r>
              <a:rPr b="1" lang="en-US" sz="1200">
                <a:solidFill>
                  <a:schemeClr val="dk1"/>
                </a:solidFill>
              </a:rPr>
              <a:t>connect reasoning with computation</a:t>
            </a:r>
            <a:r>
              <a:rPr lang="en-US" sz="1200">
                <a:solidFill>
                  <a:schemeClr val="dk1"/>
                </a:solidFill>
              </a:rPr>
              <a:t>, and reduce manual orchestration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chemeClr val="dk1"/>
                </a:solidFill>
              </a:rPr>
              <a:t>Main risk: incorrect actions, unsafe tool use, data leakage, uncontrolled side effects (e.g. </a:t>
            </a:r>
            <a:r>
              <a:rPr i="1" lang="en-US" sz="1200">
                <a:solidFill>
                  <a:schemeClr val="dk1"/>
                </a:solidFill>
              </a:rPr>
              <a:t>“delete files after you finish”</a:t>
            </a:r>
            <a:r>
              <a:rPr lang="en-US" sz="1200">
                <a:solidFill>
                  <a:schemeClr val="dk1"/>
                </a:solidFill>
              </a:rPr>
              <a:t>),Safe deployment requires </a:t>
            </a:r>
            <a:r>
              <a:rPr b="1" lang="en-US" sz="1200">
                <a:solidFill>
                  <a:schemeClr val="dk1"/>
                </a:solidFill>
              </a:rPr>
              <a:t>bounded permissions</a:t>
            </a:r>
            <a:r>
              <a:rPr lang="en-US" sz="1200">
                <a:solidFill>
                  <a:schemeClr val="dk1"/>
                </a:solidFill>
              </a:rPr>
              <a:t>, logging, human approval for critical actions, reproducibility, and traceability</a:t>
            </a:r>
            <a:endParaRPr b="1" sz="1200">
              <a:solidFill>
                <a:srgbClr val="F2A65A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0" y="6492240"/>
            <a:ext cx="12192000" cy="3657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457200" y="6492240"/>
            <a:ext cx="6400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10515600" y="6492240"/>
            <a:ext cx="121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3 / 10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Example Dataset </a:t>
            </a:r>
            <a:endParaRPr/>
          </a:p>
        </p:txBody>
      </p:sp>
      <p:sp>
        <p:nvSpPr>
          <p:cNvPr id="54" name="Google Shape;54;p6"/>
          <p:cNvSpPr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1,000 synthetic patient records with 7 variables and a built-in confounder</a:t>
            </a:r>
            <a:endParaRPr/>
          </a:p>
        </p:txBody>
      </p:sp>
      <p:sp>
        <p:nvSpPr>
          <p:cNvPr id="55" name="Google Shape;55;p6"/>
          <p:cNvSpPr/>
          <p:nvPr/>
        </p:nvSpPr>
        <p:spPr>
          <a:xfrm>
            <a:off x="457200" y="1280160"/>
            <a:ext cx="5486400" cy="493776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Arial"/>
              <a:buChar char="•"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Variables include </a:t>
            </a:r>
            <a:r>
              <a:rPr b="1" lang="en-US" sz="1300">
                <a:solidFill>
                  <a:srgbClr val="0B1F3A"/>
                </a:solidFill>
                <a:latin typeface="Calibri"/>
                <a:ea typeface="Calibri"/>
                <a:cs typeface="Calibri"/>
                <a:sym typeface="Calibri"/>
              </a:rPr>
              <a:t>sex, age, episodes, infarction, antihypertensives, naive CD4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Arial"/>
              <a:buChar char="•"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Roughly balanced by sex, no missing values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Arial"/>
              <a:buChar char="•"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Built-in patterns: </a:t>
            </a:r>
            <a:r>
              <a:rPr b="1" lang="en-US" sz="1300">
                <a:solidFill>
                  <a:srgbClr val="0B1F3A"/>
                </a:solidFill>
                <a:latin typeface="Calibri"/>
                <a:ea typeface="Calibri"/>
                <a:cs typeface="Calibri"/>
                <a:sym typeface="Calibri"/>
              </a:rPr>
              <a:t>naive CD4 decreases with age</a:t>
            </a: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, antihypertensive use increases with age, infarction more frequent in men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Arial"/>
              <a:buChar char="•"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Main question: </a:t>
            </a:r>
            <a:r>
              <a:rPr b="1" lang="en-US" sz="1300">
                <a:solidFill>
                  <a:srgbClr val="0B1F3A"/>
                </a:solidFill>
                <a:latin typeface="Calibri"/>
                <a:ea typeface="Calibri"/>
                <a:cs typeface="Calibri"/>
                <a:sym typeface="Calibri"/>
              </a:rPr>
              <a:t>Do antihypertensives affect naive CD4 T-cell levels?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300"/>
              <a:buFont typeface="Arial"/>
              <a:buChar char="•"/>
            </a:pPr>
            <a:r>
              <a:rPr lang="en-US" sz="13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 naive comparison suggests an effect, but </a:t>
            </a:r>
            <a:r>
              <a:rPr b="1" lang="en-US" sz="1300">
                <a:solidFill>
                  <a:srgbClr val="B85042"/>
                </a:solidFill>
                <a:latin typeface="Calibri"/>
                <a:ea typeface="Calibri"/>
                <a:cs typeface="Calibri"/>
                <a:sym typeface="Calibri"/>
              </a:rPr>
              <a:t>age is the key confounder</a:t>
            </a:r>
            <a:endParaRPr/>
          </a:p>
        </p:txBody>
      </p:sp>
      <p:sp>
        <p:nvSpPr>
          <p:cNvPr id="56" name="Google Shape;56;p6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58" name="Google Shape;58;p6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4 / 10</a:t>
            </a:r>
            <a:endParaRPr/>
          </a:p>
        </p:txBody>
      </p:sp>
      <p:pic>
        <p:nvPicPr>
          <p:cNvPr descr="Obsah obrázku text, snímek obrazovky, Písmo, dokument&#10;&#10;Obsah generovaný pomocí AI může být nesprávný." id="59" name="Google Shape;5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55460" y="1280160"/>
            <a:ext cx="6136540" cy="3373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7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Data Upload + Summary</a:t>
            </a:r>
            <a:endParaRPr/>
          </a:p>
        </p:txBody>
      </p:sp>
      <p:sp>
        <p:nvSpPr>
          <p:cNvPr id="65" name="Google Shape;65;p7"/>
          <p:cNvSpPr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The LLM inspects the uploaded table, identifies variable types, and reports a clean summary</a:t>
            </a: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7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68" name="Google Shape;68;p7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5 / 10</a:t>
            </a:r>
            <a:endParaRPr/>
          </a:p>
        </p:txBody>
      </p:sp>
      <p:pic>
        <p:nvPicPr>
          <p:cNvPr descr="Obsah obrázku text, snímek obrazovky, Písmo&#10;&#10;Obsah generovaný pomocí AI může být nesprávný." id="69" name="Google Shape;6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9" y="1061749"/>
            <a:ext cx="8677585" cy="52858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8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Research Question + Initial Analysis</a:t>
            </a:r>
            <a:endParaRPr/>
          </a:p>
        </p:txBody>
      </p:sp>
      <p:sp>
        <p:nvSpPr>
          <p:cNvPr id="75" name="Google Shape;75;p8"/>
          <p:cNvSpPr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User asks about antihypertensives and CD4 levels — the model runs crude + adjusted analyses</a:t>
            </a:r>
            <a:endParaRPr/>
          </a:p>
        </p:txBody>
      </p:sp>
      <p:sp>
        <p:nvSpPr>
          <p:cNvPr id="76" name="Google Shape;76;p8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78" name="Google Shape;78;p8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6 / 10</a:t>
            </a:r>
            <a:endParaRPr/>
          </a:p>
        </p:txBody>
      </p:sp>
      <p:pic>
        <p:nvPicPr>
          <p:cNvPr descr="Obsah obrázku text, snímek obrazovky, Písmo, dokument&#10;&#10;Obsah generovaný pomocí AI může být nesprávný." id="79" name="Google Shape;7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7772400" cy="5330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9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Detailed Results + Interpretation</a:t>
            </a:r>
            <a:endParaRPr/>
          </a:p>
        </p:txBody>
      </p:sp>
      <p:sp>
        <p:nvSpPr>
          <p:cNvPr id="85" name="Google Shape;85;p9"/>
          <p:cNvSpPr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 sz="14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After adjustment for age and sex, the apparent treatment effect vanishes — age is the confounder</a:t>
            </a:r>
            <a:endParaRPr/>
          </a:p>
        </p:txBody>
      </p:sp>
      <p:sp>
        <p:nvSpPr>
          <p:cNvPr id="86" name="Google Shape;86;p9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"/>
          <p:cNvSpPr/>
          <p:nvPr/>
        </p:nvSpPr>
        <p:spPr>
          <a:xfrm>
            <a:off x="457200" y="64922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88" name="Google Shape;88;p9"/>
          <p:cNvSpPr/>
          <p:nvPr/>
        </p:nvSpPr>
        <p:spPr>
          <a:xfrm>
            <a:off x="10515600" y="6492240"/>
            <a:ext cx="121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7 / 10</a:t>
            </a:r>
            <a:endParaRPr/>
          </a:p>
        </p:txBody>
      </p:sp>
      <p:pic>
        <p:nvPicPr>
          <p:cNvPr descr="Obsah obrázku text, dokument, snímek obrazovky, dopis&#10;&#10;Obsah generovaný pomocí AI může být nesprávný." id="89" name="Google Shape;8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097280"/>
            <a:ext cx="6391650" cy="51991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0"/>
          <p:cNvSpPr/>
          <p:nvPr/>
        </p:nvSpPr>
        <p:spPr>
          <a:xfrm>
            <a:off x="457200" y="27432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Agent-like Behavior of standard LLM</a:t>
            </a:r>
            <a:endParaRPr/>
          </a:p>
        </p:txBody>
      </p:sp>
      <p:sp>
        <p:nvSpPr>
          <p:cNvPr id="95" name="Google Shape;95;p10"/>
          <p:cNvSpPr/>
          <p:nvPr/>
        </p:nvSpPr>
        <p:spPr>
          <a:xfrm>
            <a:off x="457200" y="822960"/>
            <a:ext cx="1124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There’s nothing new under the sun</a:t>
            </a:r>
            <a:endParaRPr/>
          </a:p>
        </p:txBody>
      </p:sp>
      <p:sp>
        <p:nvSpPr>
          <p:cNvPr id="96" name="Google Shape;96;p10"/>
          <p:cNvSpPr/>
          <p:nvPr/>
        </p:nvSpPr>
        <p:spPr>
          <a:xfrm>
            <a:off x="457200" y="1280160"/>
            <a:ext cx="5303400" cy="54900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0"/>
          <p:cNvSpPr/>
          <p:nvPr/>
        </p:nvSpPr>
        <p:spPr>
          <a:xfrm>
            <a:off x="457200" y="1335024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Capabilities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Can analyze uploaded data and answer follow-up questions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Can generate code, run reasoning steps, and revise conclusions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Can detect simple statistical pitfalls, such as confounding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Basically </a:t>
            </a:r>
            <a:r>
              <a:rPr b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it can do things</a:t>
            </a:r>
            <a:endParaRPr b="1"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0"/>
          <p:cNvSpPr/>
          <p:nvPr/>
        </p:nvSpPr>
        <p:spPr>
          <a:xfrm>
            <a:off x="5943600" y="1280160"/>
            <a:ext cx="5303400" cy="54900"/>
          </a:xfrm>
          <a:prstGeom prst="rect">
            <a:avLst/>
          </a:prstGeom>
          <a:solidFill>
            <a:srgbClr val="F2A65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0"/>
          <p:cNvSpPr/>
          <p:nvPr/>
        </p:nvSpPr>
        <p:spPr>
          <a:xfrm>
            <a:off x="5943600" y="1335024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F2A65A"/>
                </a:solidFill>
                <a:latin typeface="Georgia"/>
                <a:ea typeface="Georgia"/>
                <a:cs typeface="Georgia"/>
                <a:sym typeface="Georgia"/>
              </a:rPr>
              <a:t>Limitations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Limited context over longer workflows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Cannot reliably handle large datasets or direct hardware access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Weak persistent memory and no true agent-to-agent coordination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No true multi-agentic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capabilities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0"/>
          <p:cNvSpPr/>
          <p:nvPr/>
        </p:nvSpPr>
        <p:spPr>
          <a:xfrm>
            <a:off x="457200" y="3749040"/>
            <a:ext cx="11247000" cy="3657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ctr" bIns="0" lIns="228600" spcFirstLastPara="1" rIns="22860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100"/>
              <a:buFont typeface="Calibri"/>
              <a:buNone/>
            </a:pPr>
            <a:r>
              <a:rPr b="1" lang="en-US" sz="11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SYSTEM PROMPT USED FOR THE DEMO</a:t>
            </a:r>
            <a:endParaRPr/>
          </a:p>
        </p:txBody>
      </p:sp>
      <p:pic>
        <p:nvPicPr>
          <p:cNvPr id="101" name="Google Shape;10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114800"/>
            <a:ext cx="7740504" cy="2011680"/>
          </a:xfrm>
          <a:prstGeom prst="rect">
            <a:avLst/>
          </a:prstGeom>
          <a:noFill/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2" name="Google Shape;102;p10"/>
          <p:cNvSpPr/>
          <p:nvPr/>
        </p:nvSpPr>
        <p:spPr>
          <a:xfrm>
            <a:off x="0" y="6492240"/>
            <a:ext cx="12192000" cy="3657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0"/>
          <p:cNvSpPr/>
          <p:nvPr/>
        </p:nvSpPr>
        <p:spPr>
          <a:xfrm>
            <a:off x="457200" y="6492240"/>
            <a:ext cx="6400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104" name="Google Shape;104;p10"/>
          <p:cNvSpPr/>
          <p:nvPr/>
        </p:nvSpPr>
        <p:spPr>
          <a:xfrm>
            <a:off x="10515600" y="6492240"/>
            <a:ext cx="121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8 / 10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1"/>
          <p:cNvSpPr/>
          <p:nvPr/>
        </p:nvSpPr>
        <p:spPr>
          <a:xfrm>
            <a:off x="457200" y="27432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Commercial</a:t>
            </a: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 Solutions </a:t>
            </a: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Exist</a:t>
            </a:r>
            <a:endParaRPr/>
          </a:p>
        </p:txBody>
      </p:sp>
      <p:sp>
        <p:nvSpPr>
          <p:cNvPr id="110" name="Google Shape;110;p11"/>
          <p:cNvSpPr/>
          <p:nvPr/>
        </p:nvSpPr>
        <p:spPr>
          <a:xfrm>
            <a:off x="457200" y="822960"/>
            <a:ext cx="11247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t/>
            </a:r>
            <a:endParaRPr/>
          </a:p>
        </p:txBody>
      </p:sp>
      <p:sp>
        <p:nvSpPr>
          <p:cNvPr id="111" name="Google Shape;111;p11"/>
          <p:cNvSpPr/>
          <p:nvPr/>
        </p:nvSpPr>
        <p:spPr>
          <a:xfrm>
            <a:off x="0" y="6492240"/>
            <a:ext cx="12192000" cy="3657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1"/>
          <p:cNvSpPr/>
          <p:nvPr/>
        </p:nvSpPr>
        <p:spPr>
          <a:xfrm>
            <a:off x="457200" y="6492240"/>
            <a:ext cx="6400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113" name="Google Shape;113;p11"/>
          <p:cNvSpPr/>
          <p:nvPr/>
        </p:nvSpPr>
        <p:spPr>
          <a:xfrm>
            <a:off x="10515600" y="6492240"/>
            <a:ext cx="121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9 / 10</a:t>
            </a:r>
            <a:endParaRPr/>
          </a:p>
        </p:txBody>
      </p:sp>
      <p:sp>
        <p:nvSpPr>
          <p:cNvPr id="114" name="Google Shape;114;p11"/>
          <p:cNvSpPr/>
          <p:nvPr/>
        </p:nvSpPr>
        <p:spPr>
          <a:xfrm>
            <a:off x="457200" y="1335024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An Example: Kosmos AI for Scientific R&amp;D </a:t>
            </a:r>
            <a:endParaRPr b="1" sz="1600">
              <a:solidFill>
                <a:srgbClr val="2E7D5B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(</a:t>
            </a:r>
            <a:r>
              <a:rPr lang="en-US" sz="1100" u="sng">
                <a:solidFill>
                  <a:schemeClr val="hlink"/>
                </a:solidFill>
                <a:hlinkClick r:id="rId3"/>
              </a:rPr>
              <a:t>Edison Scientific www.edisonscientific.com</a:t>
            </a: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t/>
            </a:r>
            <a:endParaRPr b="1" sz="1600">
              <a:solidFill>
                <a:srgbClr val="2E7D5B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Installs complex tools, analyzes data, etc.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Spawns multiple agents working on subproblems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Integrates the results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Tests multiple hypotheses at the same time 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1"/>
          <p:cNvSpPr/>
          <p:nvPr/>
        </p:nvSpPr>
        <p:spPr>
          <a:xfrm>
            <a:off x="5827875" y="1335024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Limitations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Expensive (difficult to trains oneself to prompt correctly)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Limited data storage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i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If </a:t>
            </a:r>
            <a:r>
              <a:rPr i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only</a:t>
            </a:r>
            <a:r>
              <a:rPr i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could we run something like that  on our own (university) HW…</a:t>
            </a:r>
            <a:endParaRPr i="1"/>
          </a:p>
        </p:txBody>
      </p:sp>
      <p:sp>
        <p:nvSpPr>
          <p:cNvPr id="116" name="Google Shape;116;p11"/>
          <p:cNvSpPr/>
          <p:nvPr/>
        </p:nvSpPr>
        <p:spPr>
          <a:xfrm>
            <a:off x="457200" y="3700000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An Example: Galagos: AI-powered bioinformatics for researchers (Galagos GmbH </a:t>
            </a:r>
            <a:r>
              <a:rPr lang="en-US" sz="1100" u="sng">
                <a:solidFill>
                  <a:schemeClr val="hlink"/>
                </a:solidFill>
                <a:hlinkClick r:id="rId4"/>
              </a:rPr>
              <a:t>https://galagos.ai/</a:t>
            </a: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)</a:t>
            </a:r>
            <a:endParaRPr b="1" sz="1600">
              <a:solidFill>
                <a:srgbClr val="2E7D5B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Cheaper (free beta)</a:t>
            </a:r>
            <a:endParaRPr/>
          </a:p>
        </p:txBody>
      </p:sp>
      <p:sp>
        <p:nvSpPr>
          <p:cNvPr id="117" name="Google Shape;117;p11"/>
          <p:cNvSpPr/>
          <p:nvPr/>
        </p:nvSpPr>
        <p:spPr>
          <a:xfrm>
            <a:off x="5827875" y="3700000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Limitations</a:t>
            </a:r>
            <a:endParaRPr b="1" sz="1600">
              <a:solidFill>
                <a:srgbClr val="2E7D5B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 have not tested it yet…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Limited data storage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i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If only could we run something like that on our own (university) HW…</a:t>
            </a:r>
            <a:endParaRPr i="1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2"/>
          <p:cNvSpPr/>
          <p:nvPr/>
        </p:nvSpPr>
        <p:spPr>
          <a:xfrm>
            <a:off x="457200" y="27432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F3A"/>
              </a:buClr>
              <a:buSzPts val="2800"/>
              <a:buFont typeface="Georgia"/>
              <a:buNone/>
            </a:pPr>
            <a:r>
              <a:rPr b="1" lang="en-US" sz="2800">
                <a:solidFill>
                  <a:srgbClr val="0B1F3A"/>
                </a:solidFill>
                <a:latin typeface="Georgia"/>
                <a:ea typeface="Georgia"/>
                <a:cs typeface="Georgia"/>
                <a:sym typeface="Georgia"/>
              </a:rPr>
              <a:t>Agents can be dangerous</a:t>
            </a:r>
            <a:endParaRPr/>
          </a:p>
        </p:txBody>
      </p:sp>
      <p:sp>
        <p:nvSpPr>
          <p:cNvPr id="121" name="Google Shape;121;p12"/>
          <p:cNvSpPr/>
          <p:nvPr/>
        </p:nvSpPr>
        <p:spPr>
          <a:xfrm>
            <a:off x="457200" y="822950"/>
            <a:ext cx="53034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400"/>
              <a:buFont typeface="Calibri"/>
              <a:buNone/>
            </a:pPr>
            <a:r>
              <a:rPr i="1" lang="en-US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I mean this as an earnest warning, not just a disclaimer: be very cautious what you allow an agent to do!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22" name="Google Shape;122;p12"/>
          <p:cNvSpPr/>
          <p:nvPr/>
        </p:nvSpPr>
        <p:spPr>
          <a:xfrm>
            <a:off x="0" y="6492240"/>
            <a:ext cx="12192000" cy="3657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2"/>
          <p:cNvSpPr/>
          <p:nvPr/>
        </p:nvSpPr>
        <p:spPr>
          <a:xfrm>
            <a:off x="457200" y="6492240"/>
            <a:ext cx="6400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4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E8EEF4"/>
                </a:solidFill>
                <a:latin typeface="Calibri"/>
                <a:ea typeface="Calibri"/>
                <a:cs typeface="Calibri"/>
                <a:sym typeface="Calibri"/>
              </a:rPr>
              <a:t>Agentic Systems in Biomedicine</a:t>
            </a:r>
            <a:endParaRPr/>
          </a:p>
        </p:txBody>
      </p:sp>
      <p:sp>
        <p:nvSpPr>
          <p:cNvPr id="124" name="Google Shape;124;p12"/>
          <p:cNvSpPr/>
          <p:nvPr/>
        </p:nvSpPr>
        <p:spPr>
          <a:xfrm>
            <a:off x="10515600" y="6492240"/>
            <a:ext cx="1219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2A65A"/>
              </a:buClr>
              <a:buSzPts val="1000"/>
              <a:buFont typeface="Calibri"/>
              <a:buNone/>
            </a:pPr>
            <a:r>
              <a:rPr b="1" lang="en-US" sz="1000">
                <a:solidFill>
                  <a:srgbClr val="F2A65A"/>
                </a:solidFill>
                <a:latin typeface="Calibri"/>
                <a:ea typeface="Calibri"/>
                <a:cs typeface="Calibri"/>
                <a:sym typeface="Calibri"/>
              </a:rPr>
              <a:t>10 / 10</a:t>
            </a:r>
            <a:endParaRPr/>
          </a:p>
        </p:txBody>
      </p:sp>
      <p:sp>
        <p:nvSpPr>
          <p:cNvPr id="125" name="Google Shape;125;p12"/>
          <p:cNvSpPr/>
          <p:nvPr/>
        </p:nvSpPr>
        <p:spPr>
          <a:xfrm>
            <a:off x="457200" y="1335024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B85042"/>
                </a:solidFill>
                <a:latin typeface="Georgia"/>
                <a:ea typeface="Georgia"/>
                <a:cs typeface="Georgia"/>
                <a:sym typeface="Georgia"/>
              </a:rPr>
              <a:t>Basically an agent with </a:t>
            </a:r>
            <a:r>
              <a:rPr b="1" lang="en-US" sz="1600">
                <a:solidFill>
                  <a:srgbClr val="B85042"/>
                </a:solidFill>
                <a:latin typeface="Georgia"/>
                <a:ea typeface="Georgia"/>
                <a:cs typeface="Georgia"/>
                <a:sym typeface="Georgia"/>
              </a:rPr>
              <a:t>access</a:t>
            </a:r>
            <a:r>
              <a:rPr b="1" lang="en-US" sz="1600">
                <a:solidFill>
                  <a:srgbClr val="B85042"/>
                </a:solidFill>
                <a:latin typeface="Georgia"/>
                <a:ea typeface="Georgia"/>
                <a:cs typeface="Georgia"/>
                <a:sym typeface="Georgia"/>
              </a:rPr>
              <a:t> to a tool like </a:t>
            </a:r>
            <a:r>
              <a:rPr b="1" i="1" lang="en-US" sz="1600">
                <a:solidFill>
                  <a:srgbClr val="B85042"/>
                </a:solidFill>
                <a:latin typeface="Georgia"/>
                <a:ea typeface="Georgia"/>
                <a:cs typeface="Georgia"/>
                <a:sym typeface="Georgia"/>
              </a:rPr>
              <a:t>Python interpreter </a:t>
            </a:r>
            <a:r>
              <a:rPr b="1" lang="en-US" sz="1600">
                <a:solidFill>
                  <a:srgbClr val="B85042"/>
                </a:solidFill>
                <a:latin typeface="Georgia"/>
                <a:ea typeface="Georgia"/>
                <a:cs typeface="Georgia"/>
                <a:sym typeface="Georgia"/>
              </a:rPr>
              <a:t>can do whatever the user can do!</a:t>
            </a:r>
            <a:endParaRPr b="1" sz="1600">
              <a:solidFill>
                <a:srgbClr val="2E7D5B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Delete files (like…. all of them)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Send information outside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Delete databases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Sending emails (receiving email, clicking, double-clicking,...)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2"/>
          <p:cNvSpPr/>
          <p:nvPr/>
        </p:nvSpPr>
        <p:spPr>
          <a:xfrm>
            <a:off x="457200" y="3829674"/>
            <a:ext cx="5303400" cy="21945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E7D5B"/>
              </a:buClr>
              <a:buSzPts val="1600"/>
              <a:buFont typeface="Georgia"/>
              <a:buNone/>
            </a:pP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(</a:t>
            </a: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Nonexhaustive</a:t>
            </a:r>
            <a:r>
              <a:rPr b="1" lang="en-US" sz="1600">
                <a:solidFill>
                  <a:srgbClr val="2E7D5B"/>
                </a:solidFill>
                <a:latin typeface="Georgia"/>
                <a:ea typeface="Georgia"/>
                <a:cs typeface="Georgia"/>
                <a:sym typeface="Georgia"/>
              </a:rPr>
              <a:t>) Warnings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Beware of third-party solutions (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fraudulent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MCP servers, frameworks, pipelines,...)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Check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the (user’s) 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permission</a:t>
            </a: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and access rights</a:t>
            </a:r>
            <a:endParaRPr/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Experiment in a safe environment - e</a:t>
            </a:r>
            <a:r>
              <a:rPr i="1"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.g. create a new user with limited access</a:t>
            </a:r>
            <a:endParaRPr i="1"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Do not give access to the CLI or interpreters lightly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Char char="●"/>
            </a:pPr>
            <a:r>
              <a:rPr lang="en-US" sz="1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Sandbox whenever possible</a:t>
            </a:r>
            <a:endParaRPr sz="1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2"/>
          <p:cNvSpPr/>
          <p:nvPr/>
        </p:nvSpPr>
        <p:spPr>
          <a:xfrm>
            <a:off x="5827875" y="5899975"/>
            <a:ext cx="5303400" cy="512100"/>
          </a:xfrm>
          <a:prstGeom prst="rect">
            <a:avLst/>
          </a:prstGeom>
          <a:solidFill>
            <a:srgbClr val="F4F6F9"/>
          </a:solidFill>
          <a:ln cap="flat" cmpd="sng" w="9525">
            <a:solidFill>
              <a:srgbClr val="D5DB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137150" lIns="228600" spcFirstLastPara="1" rIns="228600" wrap="square" tIns="1828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B85042"/>
                </a:solidFill>
                <a:latin typeface="Georgia"/>
                <a:ea typeface="Georgia"/>
                <a:cs typeface="Georgia"/>
                <a:sym typeface="Georgia"/>
              </a:rPr>
              <a:t>RSE - rse@cuni.cz</a:t>
            </a:r>
            <a:endParaRPr b="1" sz="1600">
              <a:solidFill>
                <a:srgbClr val="B85042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128" name="Google Shape;128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3500" y="83283"/>
            <a:ext cx="4447774" cy="4697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2"/>
          <p:cNvSpPr txBox="1"/>
          <p:nvPr/>
        </p:nvSpPr>
        <p:spPr>
          <a:xfrm>
            <a:off x="6302600" y="4720900"/>
            <a:ext cx="4828800" cy="11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999999"/>
                </a:solidFill>
              </a:rPr>
              <a:t>“It only took nine seconds for an AI coding agent gone rogue to delete a company’s entire production database and its backups, according to its founder.” </a:t>
            </a:r>
            <a:endParaRPr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>
              <a:solidFill>
                <a:srgbClr val="99999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>
                <a:solidFill>
                  <a:srgbClr val="999999"/>
                </a:solidFill>
              </a:rPr>
              <a:t>The Guardian</a:t>
            </a:r>
            <a:r>
              <a:rPr lang="en-US">
                <a:solidFill>
                  <a:srgbClr val="999999"/>
                </a:solidFill>
              </a:rPr>
              <a:t> (2026)</a:t>
            </a:r>
            <a:endParaRPr>
              <a:solidFill>
                <a:srgbClr val="99999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